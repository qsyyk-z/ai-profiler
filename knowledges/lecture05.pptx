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48"/>
  </p:handoutMasterIdLst>
  <p:sldIdLst>
    <p:sldId id="256" r:id="rId3"/>
    <p:sldId id="406" r:id="rId4"/>
    <p:sldId id="378" r:id="rId5"/>
    <p:sldId id="408" r:id="rId6"/>
    <p:sldId id="409" r:id="rId7"/>
    <p:sldId id="410" r:id="rId8"/>
    <p:sldId id="411" r:id="rId9"/>
    <p:sldId id="414" r:id="rId10"/>
    <p:sldId id="415" r:id="rId11"/>
    <p:sldId id="416" r:id="rId12"/>
    <p:sldId id="419" r:id="rId13"/>
    <p:sldId id="420" r:id="rId14"/>
    <p:sldId id="421" r:id="rId15"/>
    <p:sldId id="412" r:id="rId16"/>
    <p:sldId id="413" r:id="rId17"/>
    <p:sldId id="425" r:id="rId18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93" r:id="rId34"/>
    <p:sldId id="422" r:id="rId35"/>
    <p:sldId id="423" r:id="rId36"/>
    <p:sldId id="424" r:id="rId37"/>
    <p:sldId id="303" r:id="rId38"/>
    <p:sldId id="311" r:id="rId39"/>
    <p:sldId id="364" r:id="rId40"/>
    <p:sldId id="365" r:id="rId41"/>
    <p:sldId id="366" r:id="rId42"/>
    <p:sldId id="367" r:id="rId43"/>
    <p:sldId id="368" r:id="rId44"/>
    <p:sldId id="417" r:id="rId45"/>
    <p:sldId id="418" r:id="rId46"/>
    <p:sldId id="330" r:id="rId47"/>
  </p:sldIdLst>
  <p:sldSz cx="9144000" cy="6858000" type="screen4x3"/>
  <p:notesSz cx="6858000" cy="9144000"/>
  <p:custDataLst>
    <p:tags r:id="rId5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000" i="1" kern="1200">
        <a:solidFill>
          <a:srgbClr val="80008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i="1" kern="1200">
        <a:solidFill>
          <a:srgbClr val="80008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i="1" kern="1200">
        <a:solidFill>
          <a:srgbClr val="80008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i="1" kern="1200">
        <a:solidFill>
          <a:srgbClr val="80008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i="1" kern="1200">
        <a:solidFill>
          <a:srgbClr val="80008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000" i="1" kern="1200">
        <a:solidFill>
          <a:srgbClr val="80008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000" i="1" kern="1200">
        <a:solidFill>
          <a:srgbClr val="80008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000" i="1" kern="1200">
        <a:solidFill>
          <a:srgbClr val="80008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000" i="1" kern="1200">
        <a:solidFill>
          <a:srgbClr val="80008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99"/>
    <a:srgbClr val="CC99FF"/>
    <a:srgbClr val="993366"/>
    <a:srgbClr val="000066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95" autoAdjust="0"/>
    <p:restoredTop sz="94619" autoAdjust="0"/>
  </p:normalViewPr>
  <p:slideViewPr>
    <p:cSldViewPr showGuides="1">
      <p:cViewPr varScale="1">
        <p:scale>
          <a:sx n="109" d="100"/>
          <a:sy n="109" d="100"/>
        </p:scale>
        <p:origin x="816" y="176"/>
      </p:cViewPr>
      <p:guideLst>
        <p:guide orient="horz" pos="2160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7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gs" Target="tags/tag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image" Target="../media/image44.wmf"/><Relationship Id="rId7" Type="http://schemas.openxmlformats.org/officeDocument/2006/relationships/image" Target="../media/image43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31.wmf"/><Relationship Id="rId1" Type="http://schemas.openxmlformats.org/officeDocument/2006/relationships/image" Target="../media/image48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31.wmf"/><Relationship Id="rId1" Type="http://schemas.openxmlformats.org/officeDocument/2006/relationships/image" Target="../media/image52.e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6.emf"/><Relationship Id="rId3" Type="http://schemas.openxmlformats.org/officeDocument/2006/relationships/image" Target="../media/image55.emf"/><Relationship Id="rId2" Type="http://schemas.openxmlformats.org/officeDocument/2006/relationships/image" Target="../media/image31.wmf"/><Relationship Id="rId1" Type="http://schemas.openxmlformats.org/officeDocument/2006/relationships/image" Target="../media/image54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59.emf"/><Relationship Id="rId3" Type="http://schemas.openxmlformats.org/officeDocument/2006/relationships/image" Target="../media/image58.emf"/><Relationship Id="rId2" Type="http://schemas.openxmlformats.org/officeDocument/2006/relationships/image" Target="../media/image31.wmf"/><Relationship Id="rId1" Type="http://schemas.openxmlformats.org/officeDocument/2006/relationships/image" Target="../media/image57.w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31.wmf"/><Relationship Id="rId1" Type="http://schemas.openxmlformats.org/officeDocument/2006/relationships/image" Target="../media/image54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27.vml.rels><?xml version="1.0" encoding="UTF-8" standalone="yes"?>
<Relationships xmlns="http://schemas.openxmlformats.org/package/2006/relationships"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i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i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i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i="0">
                <a:solidFill>
                  <a:schemeClr val="tx1"/>
                </a:solidFill>
              </a:defRPr>
            </a:lvl1pPr>
          </a:lstStyle>
          <a:p>
            <a:fld id="{D7A8551F-B77F-4524-A4BA-D932EF22B28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70BB3-3F06-5D44-9D36-B6311B196BF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D3B25-65E2-C343-BA3F-B99321260A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D3B25-65E2-C343-BA3F-B99321260A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D3B25-65E2-C343-BA3F-B99321260A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D3B25-65E2-C343-BA3F-B99321260A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D3B25-65E2-C343-BA3F-B99321260A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tsinghua.edu.cn/chn/index.htm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ChangeArrowheads="1"/>
          </p:cNvSpPr>
          <p:nvPr/>
        </p:nvSpPr>
        <p:spPr bwMode="auto">
          <a:xfrm>
            <a:off x="0" y="0"/>
            <a:ext cx="45720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zh-CN" sz="2400" i="0">
              <a:solidFill>
                <a:schemeClr val="tx1"/>
              </a:solidFill>
            </a:endParaRPr>
          </a:p>
        </p:txBody>
      </p:sp>
      <p:sp>
        <p:nvSpPr>
          <p:cNvPr id="6147" name="AutoShape 1027"/>
          <p:cNvSpPr>
            <a:spLocks noChangeArrowheads="1"/>
          </p:cNvSpPr>
          <p:nvPr/>
        </p:nvSpPr>
        <p:spPr bwMode="auto">
          <a:xfrm>
            <a:off x="685800" y="990600"/>
            <a:ext cx="51816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algn="ctr"/>
            <a:endParaRPr lang="zh-CN" altLang="zh-CN" sz="2400" i="0">
              <a:solidFill>
                <a:schemeClr val="tx1"/>
              </a:solidFill>
            </a:endParaRPr>
          </a:p>
        </p:txBody>
      </p:sp>
      <p:sp>
        <p:nvSpPr>
          <p:cNvPr id="6148" name="Rectangle 1028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73600" y="2927350"/>
            <a:ext cx="3657600" cy="182245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grpSp>
        <p:nvGrpSpPr>
          <p:cNvPr id="6149" name="Group 1029"/>
          <p:cNvGrpSpPr/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6150" name="AutoShape 1030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1" name="AutoShape 1031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52" name="Rectangle 103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667000" y="6553200"/>
            <a:ext cx="1905000" cy="3048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>
            <a:spAutoFit/>
          </a:bodyPr>
          <a:lstStyle>
            <a:lvl1pPr algn="r">
              <a:defRPr kumimoji="0" sz="140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153" name="Rectangle 10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95888" y="6553200"/>
            <a:ext cx="3279775" cy="3048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>
            <a:spAutoFit/>
          </a:bodyPr>
          <a:lstStyle>
            <a:lvl1pPr algn="r">
              <a:defRPr kumimoji="0" sz="1400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154" name="Rectangle 10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25" y="6359525"/>
            <a:ext cx="587375" cy="48895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>
            <a:spAutoFit/>
          </a:bodyPr>
          <a:lstStyle>
            <a:lvl1pPr>
              <a:defRPr kumimoji="0" sz="26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90865D4F-FDDB-4DA2-89D3-16C217C889D6}" type="slidenum">
              <a:rPr lang="en-US" altLang="zh-CN"/>
            </a:fld>
            <a:endParaRPr lang="en-US" altLang="zh-CN"/>
          </a:p>
        </p:txBody>
      </p:sp>
      <p:sp>
        <p:nvSpPr>
          <p:cNvPr id="6155" name="Rectangle 103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609600" y="1371600"/>
            <a:ext cx="7772400" cy="63182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6" name="Line 1036"/>
          <p:cNvSpPr>
            <a:spLocks noChangeShapeType="1"/>
          </p:cNvSpPr>
          <p:nvPr userDrawn="1"/>
        </p:nvSpPr>
        <p:spPr bwMode="auto">
          <a:xfrm>
            <a:off x="685800" y="1219200"/>
            <a:ext cx="7651750" cy="0"/>
          </a:xfrm>
          <a:prstGeom prst="line">
            <a:avLst/>
          </a:prstGeom>
          <a:noFill/>
          <a:ln w="47625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157" name="Picture 1037" descr="清华大学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0"/>
            <a:ext cx="2057400" cy="525463"/>
          </a:xfrm>
          <a:prstGeom prst="rect">
            <a:avLst/>
          </a:prstGeom>
          <a:noFill/>
        </p:spPr>
      </p:pic>
      <p:sp>
        <p:nvSpPr>
          <p:cNvPr id="6158" name="Text Box 1038"/>
          <p:cNvSpPr txBox="1">
            <a:spLocks noChangeArrowheads="1"/>
          </p:cNvSpPr>
          <p:nvPr userDrawn="1"/>
        </p:nvSpPr>
        <p:spPr bwMode="auto">
          <a:xfrm>
            <a:off x="914400" y="395288"/>
            <a:ext cx="602932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i="0">
                <a:latin typeface="Arial" panose="020B0604020202020204" pitchFamily="34" charset="0"/>
                <a:cs typeface="Times New Roman" panose="02020603050405020304" pitchFamily="18" charset="0"/>
              </a:rPr>
              <a:t>Formal Languages and Automata</a:t>
            </a:r>
            <a:endParaRPr lang="en-US" altLang="zh-CN" sz="2800" b="1" i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 advClick="0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hyperlink" Target="http://www.tsinghua.edu.cn/chn/index.htm" TargetMode="Externa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7" name="Group 1041"/>
          <p:cNvGrpSpPr/>
          <p:nvPr userDrawn="1"/>
        </p:nvGrpSpPr>
        <p:grpSpPr bwMode="auto">
          <a:xfrm>
            <a:off x="-36513" y="0"/>
            <a:ext cx="1476376" cy="6884988"/>
            <a:chOff x="0" y="0"/>
            <a:chExt cx="2016" cy="4320"/>
          </a:xfrm>
        </p:grpSpPr>
        <p:sp>
          <p:nvSpPr>
            <p:cNvPr id="5138" name="Rectangle 1042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9" name="Rectangle 1043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40" name="Line 1044"/>
          <p:cNvSpPr>
            <a:spLocks noChangeShapeType="1"/>
          </p:cNvSpPr>
          <p:nvPr userDrawn="1"/>
        </p:nvSpPr>
        <p:spPr bwMode="auto">
          <a:xfrm>
            <a:off x="1477963" y="1008063"/>
            <a:ext cx="7515225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5141" name="Picture 1045" descr="清华大学">
            <a:hlinkClick r:id="rId12"/>
          </p:cNvPr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813675" y="576263"/>
            <a:ext cx="1295400" cy="330200"/>
          </a:xfrm>
          <a:prstGeom prst="rect">
            <a:avLst/>
          </a:prstGeom>
          <a:noFill/>
        </p:spPr>
      </p:pic>
      <p:sp>
        <p:nvSpPr>
          <p:cNvPr id="5142" name="Text Box 1046"/>
          <p:cNvSpPr txBox="1">
            <a:spLocks noChangeArrowheads="1"/>
          </p:cNvSpPr>
          <p:nvPr userDrawn="1"/>
        </p:nvSpPr>
        <p:spPr bwMode="auto">
          <a:xfrm>
            <a:off x="7885113" y="71438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400" b="1">
                <a:solidFill>
                  <a:srgbClr val="993366"/>
                </a:solidFill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FL&amp;A</a:t>
            </a:r>
            <a:endParaRPr lang="en-US" altLang="zh-CN" sz="2400" b="1">
              <a:solidFill>
                <a:srgbClr val="993366"/>
              </a:solidFill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43" name="AutoShape 1047"/>
          <p:cNvSpPr>
            <a:spLocks noChangeArrowheads="1"/>
          </p:cNvSpPr>
          <p:nvPr userDrawn="1"/>
        </p:nvSpPr>
        <p:spPr bwMode="auto">
          <a:xfrm>
            <a:off x="1117600" y="215900"/>
            <a:ext cx="3311525" cy="647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algn="ctr"/>
            <a:endParaRPr lang="zh-CN" altLang="zh-CN" sz="2400" i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 advClick="0">
    <p:wipe dir="r"/>
  </p:transition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3.xml"/><Relationship Id="rId1" Type="http://schemas.openxmlformats.org/officeDocument/2006/relationships/slide" Target="slide3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" Target="slide17.xml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7.xml"/><Relationship Id="rId20" Type="http://schemas.openxmlformats.org/officeDocument/2006/relationships/oleObject" Target="../embeddings/oleObject10.bin"/><Relationship Id="rId2" Type="http://schemas.openxmlformats.org/officeDocument/2006/relationships/image" Target="../media/image2.wmf"/><Relationship Id="rId19" Type="http://schemas.openxmlformats.org/officeDocument/2006/relationships/image" Target="../media/image9.emf"/><Relationship Id="rId18" Type="http://schemas.openxmlformats.org/officeDocument/2006/relationships/oleObject" Target="../embeddings/oleObject9.bin"/><Relationship Id="rId17" Type="http://schemas.openxmlformats.org/officeDocument/2006/relationships/oleObject" Target="../embeddings/oleObject8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7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2" Type="http://schemas.openxmlformats.org/officeDocument/2006/relationships/slide" Target="slide4.xml"/><Relationship Id="rId11" Type="http://schemas.openxmlformats.org/officeDocument/2006/relationships/image" Target="../media/image6.wmf"/><Relationship Id="rId10" Type="http://schemas.openxmlformats.org/officeDocument/2006/relationships/oleObject" Target="../embeddings/oleObject5.bin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e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6.e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emf"/><Relationship Id="rId8" Type="http://schemas.openxmlformats.org/officeDocument/2006/relationships/image" Target="../media/image21.emf"/><Relationship Id="rId7" Type="http://schemas.openxmlformats.org/officeDocument/2006/relationships/image" Target="../media/image20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3.e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4.emf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4.emf"/><Relationship Id="rId10" Type="http://schemas.openxmlformats.org/officeDocument/2006/relationships/image" Target="../media/image23.emf"/><Relationship Id="rId1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emf"/><Relationship Id="rId8" Type="http://schemas.openxmlformats.org/officeDocument/2006/relationships/image" Target="../media/image21.emf"/><Relationship Id="rId7" Type="http://schemas.openxmlformats.org/officeDocument/2006/relationships/image" Target="../media/image20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3.e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14.emf"/><Relationship Id="rId13" Type="http://schemas.openxmlformats.org/officeDocument/2006/relationships/vmlDrawing" Target="../drawings/vmlDrawing6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5.emf"/><Relationship Id="rId10" Type="http://schemas.openxmlformats.org/officeDocument/2006/relationships/image" Target="../media/image23.emf"/><Relationship Id="rId1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emf"/><Relationship Id="rId8" Type="http://schemas.openxmlformats.org/officeDocument/2006/relationships/image" Target="../media/image21.emf"/><Relationship Id="rId7" Type="http://schemas.openxmlformats.org/officeDocument/2006/relationships/image" Target="../media/image20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3.e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14.emf"/><Relationship Id="rId13" Type="http://schemas.openxmlformats.org/officeDocument/2006/relationships/vmlDrawing" Target="../drawings/vmlDrawing7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6.emf"/><Relationship Id="rId10" Type="http://schemas.openxmlformats.org/officeDocument/2006/relationships/image" Target="../media/image23.emf"/><Relationship Id="rId1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emf"/><Relationship Id="rId8" Type="http://schemas.openxmlformats.org/officeDocument/2006/relationships/image" Target="../media/image21.emf"/><Relationship Id="rId7" Type="http://schemas.openxmlformats.org/officeDocument/2006/relationships/image" Target="../media/image20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3.e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14.emf"/><Relationship Id="rId13" Type="http://schemas.openxmlformats.org/officeDocument/2006/relationships/vmlDrawing" Target="../drawings/vmlDrawing8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7.emf"/><Relationship Id="rId10" Type="http://schemas.openxmlformats.org/officeDocument/2006/relationships/image" Target="../media/image23.emf"/><Relationship Id="rId1" Type="http://schemas.openxmlformats.org/officeDocument/2006/relationships/oleObject" Target="../embeddings/oleObject2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emf"/><Relationship Id="rId8" Type="http://schemas.openxmlformats.org/officeDocument/2006/relationships/image" Target="../media/image21.emf"/><Relationship Id="rId7" Type="http://schemas.openxmlformats.org/officeDocument/2006/relationships/image" Target="../media/image20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3.e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14.emf"/><Relationship Id="rId13" Type="http://schemas.openxmlformats.org/officeDocument/2006/relationships/vmlDrawing" Target="../drawings/vmlDrawing9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8.emf"/><Relationship Id="rId10" Type="http://schemas.openxmlformats.org/officeDocument/2006/relationships/image" Target="../media/image23.emf"/><Relationship Id="rId1" Type="http://schemas.openxmlformats.org/officeDocument/2006/relationships/oleObject" Target="../embeddings/oleObject27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emf"/><Relationship Id="rId8" Type="http://schemas.openxmlformats.org/officeDocument/2006/relationships/image" Target="../media/image21.emf"/><Relationship Id="rId7" Type="http://schemas.openxmlformats.org/officeDocument/2006/relationships/image" Target="../media/image20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3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14.emf"/><Relationship Id="rId13" Type="http://schemas.openxmlformats.org/officeDocument/2006/relationships/vmlDrawing" Target="../drawings/vmlDrawing10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9.emf"/><Relationship Id="rId10" Type="http://schemas.openxmlformats.org/officeDocument/2006/relationships/image" Target="../media/image23.emf"/><Relationship Id="rId1" Type="http://schemas.openxmlformats.org/officeDocument/2006/relationships/oleObject" Target="../embeddings/oleObject2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7.xml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31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2.vml"/><Relationship Id="rId8" Type="http://schemas.openxmlformats.org/officeDocument/2006/relationships/slideLayout" Target="../slideLayouts/slideLayout7.xml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5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5.xml"/><Relationship Id="rId1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40.bin"/><Relationship Id="rId23" Type="http://schemas.openxmlformats.org/officeDocument/2006/relationships/vmlDrawing" Target="../drawings/vmlDrawing13.vml"/><Relationship Id="rId22" Type="http://schemas.openxmlformats.org/officeDocument/2006/relationships/slideLayout" Target="../slideLayouts/slideLayout7.xml"/><Relationship Id="rId21" Type="http://schemas.openxmlformats.org/officeDocument/2006/relationships/oleObject" Target="../embeddings/oleObject50.bin"/><Relationship Id="rId20" Type="http://schemas.openxmlformats.org/officeDocument/2006/relationships/image" Target="../media/image45.wmf"/><Relationship Id="rId2" Type="http://schemas.openxmlformats.org/officeDocument/2006/relationships/image" Target="../media/image37.wmf"/><Relationship Id="rId19" Type="http://schemas.openxmlformats.org/officeDocument/2006/relationships/oleObject" Target="../embeddings/oleObject49.bin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48.bin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47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46.bin"/><Relationship Id="rId12" Type="http://schemas.openxmlformats.org/officeDocument/2006/relationships/oleObject" Target="../embeddings/oleObject45.bin"/><Relationship Id="rId11" Type="http://schemas.openxmlformats.org/officeDocument/2006/relationships/image" Target="../media/image41.wmf"/><Relationship Id="rId10" Type="http://schemas.openxmlformats.org/officeDocument/2006/relationships/oleObject" Target="../embeddings/oleObject44.bin"/><Relationship Id="rId1" Type="http://schemas.openxmlformats.org/officeDocument/2006/relationships/oleObject" Target="../embeddings/oleObject39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emf"/><Relationship Id="rId1" Type="http://schemas.openxmlformats.org/officeDocument/2006/relationships/oleObject" Target="../embeddings/oleObject51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wmf"/><Relationship Id="rId1" Type="http://schemas.openxmlformats.org/officeDocument/2006/relationships/oleObject" Target="../embeddings/oleObject52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wmf"/><Relationship Id="rId1" Type="http://schemas.openxmlformats.org/officeDocument/2006/relationships/oleObject" Target="../embeddings/oleObject53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wmf"/><Relationship Id="rId1" Type="http://schemas.openxmlformats.org/officeDocument/2006/relationships/oleObject" Target="../embeddings/oleObject54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48.emf"/><Relationship Id="rId1" Type="http://schemas.openxmlformats.org/officeDocument/2006/relationships/oleObject" Target="../embeddings/oleObject55.bin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1.e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50.emf"/><Relationship Id="rId1" Type="http://schemas.openxmlformats.org/officeDocument/2006/relationships/oleObject" Target="../embeddings/oleObject5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3.e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52.emf"/><Relationship Id="rId1" Type="http://schemas.openxmlformats.org/officeDocument/2006/relationships/oleObject" Target="../embeddings/oleObject60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emf"/><Relationship Id="rId8" Type="http://schemas.openxmlformats.org/officeDocument/2006/relationships/oleObject" Target="../embeddings/oleObject67.bin"/><Relationship Id="rId7" Type="http://schemas.openxmlformats.org/officeDocument/2006/relationships/oleObject" Target="../embeddings/oleObject66.bin"/><Relationship Id="rId6" Type="http://schemas.openxmlformats.org/officeDocument/2006/relationships/image" Target="../media/image55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54.wmf"/><Relationship Id="rId11" Type="http://schemas.openxmlformats.org/officeDocument/2006/relationships/vmlDrawing" Target="../drawings/vmlDrawing21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63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59.e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58.e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57.wmf"/><Relationship Id="rId11" Type="http://schemas.openxmlformats.org/officeDocument/2006/relationships/vmlDrawing" Target="../drawings/vmlDrawing22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68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oleObject" Target="../embeddings/oleObject77.bin"/><Relationship Id="rId7" Type="http://schemas.openxmlformats.org/officeDocument/2006/relationships/oleObject" Target="../embeddings/oleObject76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74.bin"/><Relationship Id="rId2" Type="http://schemas.openxmlformats.org/officeDocument/2006/relationships/image" Target="../media/image54.wmf"/><Relationship Id="rId11" Type="http://schemas.openxmlformats.org/officeDocument/2006/relationships/vmlDrawing" Target="../drawings/vmlDrawing23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73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vmlDrawing" Target="../drawings/vmlDrawing2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5.emf"/><Relationship Id="rId4" Type="http://schemas.openxmlformats.org/officeDocument/2006/relationships/image" Target="../media/image64.emf"/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oleObject" Target="../embeddings/oleObject7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vmlDrawing" Target="../drawings/vmlDrawing2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5.emf"/><Relationship Id="rId4" Type="http://schemas.openxmlformats.org/officeDocument/2006/relationships/image" Target="../media/image64.emf"/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oleObject" Target="../embeddings/oleObject79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2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6.emf"/><Relationship Id="rId2" Type="http://schemas.openxmlformats.org/officeDocument/2006/relationships/image" Target="../media/image62.emf"/><Relationship Id="rId1" Type="http://schemas.openxmlformats.org/officeDocument/2006/relationships/oleObject" Target="../embeddings/oleObject80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8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82.bin"/><Relationship Id="rId2" Type="http://schemas.openxmlformats.org/officeDocument/2006/relationships/image" Target="../media/image2.wmf"/><Relationship Id="rId19" Type="http://schemas.openxmlformats.org/officeDocument/2006/relationships/vmlDrawing" Target="../drawings/vmlDrawing27.vml"/><Relationship Id="rId18" Type="http://schemas.openxmlformats.org/officeDocument/2006/relationships/slideLayout" Target="../slideLayouts/slideLayout7.xml"/><Relationship Id="rId17" Type="http://schemas.openxmlformats.org/officeDocument/2006/relationships/oleObject" Target="../embeddings/oleObject90.bin"/><Relationship Id="rId16" Type="http://schemas.openxmlformats.org/officeDocument/2006/relationships/oleObject" Target="../embeddings/oleObject89.bin"/><Relationship Id="rId15" Type="http://schemas.openxmlformats.org/officeDocument/2006/relationships/oleObject" Target="../embeddings/oleObject8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8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8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81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5.emf"/><Relationship Id="rId2" Type="http://schemas.openxmlformats.org/officeDocument/2006/relationships/image" Target="../media/image62.emf"/><Relationship Id="rId1" Type="http://schemas.openxmlformats.org/officeDocument/2006/relationships/oleObject" Target="../embeddings/oleObject91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604963" y="195263"/>
            <a:ext cx="1955800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b="1" i="0">
                <a:latin typeface="华文行楷" panose="02010800040101010101" pitchFamily="2" charset="-122"/>
                <a:ea typeface="华文行楷" panose="02010800040101010101" pitchFamily="2" charset="-122"/>
              </a:rPr>
              <a:t>第 五 讲</a:t>
            </a:r>
            <a:endParaRPr lang="zh-CN" altLang="en-US" sz="4000" b="1" i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067" name="Text Box 19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611188" y="1700213"/>
            <a:ext cx="7921625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en-US" altLang="zh-CN" sz="3600" b="1" i="0"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sz="3600" b="1" i="0">
                <a:latin typeface="Arial" panose="020B0604020202020204" pitchFamily="34" charset="0"/>
                <a:ea typeface="楷体_GB2312" pitchFamily="49" charset="-122"/>
              </a:rPr>
              <a:t>有限状态自动机 </a:t>
            </a:r>
            <a:r>
              <a:rPr lang="zh-CN" altLang="en-US" sz="36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 </a:t>
            </a:r>
            <a:r>
              <a:rPr lang="zh-CN" altLang="en-US" sz="3600" b="1" i="0">
                <a:latin typeface="Arial" panose="020B0604020202020204" pitchFamily="34" charset="0"/>
                <a:ea typeface="楷体_GB2312" pitchFamily="49" charset="-122"/>
              </a:rPr>
              <a:t>正规表达式</a:t>
            </a:r>
            <a:endParaRPr lang="zh-CN" altLang="en-US" sz="3600" b="1" i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01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0" name="Text Box 4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971550" y="2344738"/>
            <a:ext cx="6624638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3200" b="1" i="0" dirty="0">
                <a:latin typeface="Arial" panose="020B0604020202020204" pitchFamily="34" charset="0"/>
                <a:ea typeface="楷体_GB2312" pitchFamily="49" charset="-122"/>
              </a:rPr>
              <a:t>几个转换算法的复杂度（选讲）</a:t>
            </a:r>
            <a:endParaRPr lang="zh-CN" altLang="en-US" sz="3200" b="1" i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2826" name="Text Box 10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971550" y="1557338"/>
            <a:ext cx="6618288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有限自动机与正规表达式的关系</a:t>
            </a:r>
            <a:endParaRPr lang="zh-CN" altLang="en-US" sz="32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2827" name="Rectangle 11"/>
          <p:cNvSpPr>
            <a:spLocks noChangeArrowheads="1"/>
          </p:cNvSpPr>
          <p:nvPr/>
        </p:nvSpPr>
        <p:spPr bwMode="auto">
          <a:xfrm>
            <a:off x="1331913" y="260350"/>
            <a:ext cx="6372225" cy="5857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3600" b="1" i="0">
                <a:latin typeface="华文行楷" panose="02010800040101010101" pitchFamily="2" charset="-122"/>
                <a:ea typeface="华文行楷" panose="02010800040101010101" pitchFamily="2" charset="-122"/>
              </a:rPr>
              <a:t>有限状态自动机 </a:t>
            </a:r>
            <a:r>
              <a:rPr lang="zh-CN" altLang="en-US" sz="3600" b="1" i="0"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 </a:t>
            </a:r>
            <a:r>
              <a:rPr lang="zh-CN" altLang="en-US" sz="3600" b="1" i="0">
                <a:latin typeface="华文行楷" panose="02010800040101010101" pitchFamily="2" charset="-122"/>
                <a:ea typeface="华文行楷" panose="02010800040101010101" pitchFamily="2" charset="-122"/>
              </a:rPr>
              <a:t>正规表达式</a:t>
            </a:r>
            <a:endParaRPr lang="zh-CN" altLang="en-US" sz="3600" b="1" i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02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1" name="Text Box 7"/>
          <p:cNvSpPr txBox="1">
            <a:spLocks noChangeArrowheads="1"/>
          </p:cNvSpPr>
          <p:nvPr/>
        </p:nvSpPr>
        <p:spPr bwMode="auto">
          <a:xfrm>
            <a:off x="611188" y="1484313"/>
            <a:ext cx="8353425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楷体_GB2312" pitchFamily="49" charset="-122"/>
                <a:ea typeface="楷体_GB2312" pitchFamily="49" charset="-122"/>
              </a:rPr>
              <a:t>结论</a:t>
            </a: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3200" b="1" i="0" dirty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有限自动机所表示的语言是正规语言</a:t>
            </a:r>
            <a:endParaRPr lang="zh-CN" altLang="en-US" sz="3200" b="1" i="0" dirty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1187450" y="2262188"/>
            <a:ext cx="198755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i="0">
                <a:latin typeface="楷体_GB2312" pitchFamily="49" charset="-122"/>
                <a:ea typeface="楷体_GB2312" pitchFamily="49" charset="-122"/>
              </a:rPr>
              <a:t>证明策略</a:t>
            </a:r>
            <a:endParaRPr lang="zh-CN" altLang="en-US" sz="2800" b="1" i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34153" name="Object 9"/>
          <p:cNvGraphicFramePr>
            <a:graphicFrameLocks noChangeAspect="1"/>
          </p:cNvGraphicFramePr>
          <p:nvPr/>
        </p:nvGraphicFramePr>
        <p:xfrm>
          <a:off x="5749925" y="4052888"/>
          <a:ext cx="2635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28" name="VISIO" r:id="rId1" imgW="254635" imgH="1046480" progId="Visio.Drawing.11">
                  <p:embed/>
                </p:oleObj>
              </mc:Choice>
              <mc:Fallback>
                <p:oleObj name="VISIO" r:id="rId1" imgW="254635" imgH="1046480" progId="Visio.Drawing.11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5" y="4052888"/>
                        <a:ext cx="263525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4" name="Object 10"/>
          <p:cNvGraphicFramePr>
            <a:graphicFrameLocks noChangeAspect="1"/>
          </p:cNvGraphicFramePr>
          <p:nvPr/>
        </p:nvGraphicFramePr>
        <p:xfrm>
          <a:off x="6084888" y="3933825"/>
          <a:ext cx="658812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29" name="VISIO" r:id="rId3" imgW="659765" imgH="1282065" progId="Visio.Drawing.11">
                  <p:embed/>
                </p:oleObj>
              </mc:Choice>
              <mc:Fallback>
                <p:oleObj name="VISIO" r:id="rId3" imgW="659765" imgH="1282065" progId="Visio.Drawing.1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3933825"/>
                        <a:ext cx="658812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5" name="Object 11"/>
          <p:cNvGraphicFramePr>
            <a:graphicFrameLocks noChangeAspect="1"/>
          </p:cNvGraphicFramePr>
          <p:nvPr/>
        </p:nvGraphicFramePr>
        <p:xfrm>
          <a:off x="3683000" y="3832225"/>
          <a:ext cx="1966913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30" name="VISIO" r:id="rId5" imgW="1971675" imgH="1323975" progId="Visio.Drawing.11">
                  <p:embed/>
                </p:oleObj>
              </mc:Choice>
              <mc:Fallback>
                <p:oleObj name="VISIO" r:id="rId5" imgW="1971675" imgH="1323975" progId="Visio.Drawing.11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3832225"/>
                        <a:ext cx="1966913" cy="13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6" name="Object 12"/>
          <p:cNvGraphicFramePr>
            <a:graphicFrameLocks noChangeAspect="1"/>
          </p:cNvGraphicFramePr>
          <p:nvPr/>
        </p:nvGraphicFramePr>
        <p:xfrm>
          <a:off x="3708400" y="3933825"/>
          <a:ext cx="19335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31" name="VISIO" r:id="rId7" imgW="1933575" imgH="1295400" progId="Visio.Drawing.11">
                  <p:embed/>
                </p:oleObj>
              </mc:Choice>
              <mc:Fallback>
                <p:oleObj name="VISIO" r:id="rId7" imgW="1933575" imgH="1295400" progId="Visio.Drawing.11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933825"/>
                        <a:ext cx="1933575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7" name="Object 13">
            <a:hlinkClick r:id="rId9" action="ppaction://hlinksldjump"/>
          </p:cNvPr>
          <p:cNvGraphicFramePr>
            <a:graphicFrameLocks noChangeAspect="1"/>
          </p:cNvGraphicFramePr>
          <p:nvPr/>
        </p:nvGraphicFramePr>
        <p:xfrm>
          <a:off x="3721100" y="5367338"/>
          <a:ext cx="1644650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32" name="VISIO" r:id="rId10" imgW="1838325" imgH="254635" progId="Visio.Drawing.11">
                  <p:embed/>
                </p:oleObj>
              </mc:Choice>
              <mc:Fallback>
                <p:oleObj name="VISIO" r:id="rId10" imgW="1838325" imgH="254635" progId="Visio.Drawing.11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5367338"/>
                        <a:ext cx="1644650" cy="22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8" name="Object 14">
            <a:hlinkClick r:id="rId12" action="ppaction://hlinksldjump"/>
          </p:cNvPr>
          <p:cNvGraphicFramePr>
            <a:graphicFrameLocks noChangeAspect="1"/>
          </p:cNvGraphicFramePr>
          <p:nvPr/>
        </p:nvGraphicFramePr>
        <p:xfrm>
          <a:off x="3170238" y="4035425"/>
          <a:ext cx="25082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33" name="VISIO" r:id="rId13" imgW="254635" imgH="1046480" progId="Visio.Drawing.11">
                  <p:embed/>
                </p:oleObj>
              </mc:Choice>
              <mc:Fallback>
                <p:oleObj name="VISIO" r:id="rId13" imgW="254635" imgH="1046480" progId="Visio.Drawing.11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238" y="4035425"/>
                        <a:ext cx="25082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189" name="Group 45"/>
          <p:cNvGrpSpPr/>
          <p:nvPr/>
        </p:nvGrpSpPr>
        <p:grpSpPr bwMode="auto">
          <a:xfrm>
            <a:off x="2555875" y="4943475"/>
            <a:ext cx="1296988" cy="935038"/>
            <a:chOff x="1383" y="3385"/>
            <a:chExt cx="817" cy="589"/>
          </a:xfrm>
        </p:grpSpPr>
        <p:graphicFrame>
          <p:nvGraphicFramePr>
            <p:cNvPr id="134169" name="Object 25"/>
            <p:cNvGraphicFramePr>
              <a:graphicFrameLocks noChangeAspect="1"/>
            </p:cNvGraphicFramePr>
            <p:nvPr/>
          </p:nvGraphicFramePr>
          <p:xfrm>
            <a:off x="1383" y="3385"/>
            <a:ext cx="817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34" name="VISIO" r:id="rId15" imgW="733425" imgH="504825" progId="Visio.Drawing.11">
                    <p:embed/>
                  </p:oleObj>
                </mc:Choice>
                <mc:Fallback>
                  <p:oleObj name="VISIO" r:id="rId15" imgW="733425" imgH="504825" progId="Visio.Drawing.11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3385"/>
                          <a:ext cx="817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4170" name="Rectangle 26"/>
            <p:cNvSpPr>
              <a:spLocks noChangeArrowheads="1"/>
            </p:cNvSpPr>
            <p:nvPr/>
          </p:nvSpPr>
          <p:spPr bwMode="auto">
            <a:xfrm>
              <a:off x="1610" y="3521"/>
              <a:ext cx="38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RE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34171" name="Rectangle 27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grpSp>
        <p:nvGrpSpPr>
          <p:cNvPr id="134190" name="Group 46"/>
          <p:cNvGrpSpPr/>
          <p:nvPr/>
        </p:nvGrpSpPr>
        <p:grpSpPr bwMode="auto">
          <a:xfrm>
            <a:off x="2627313" y="3287713"/>
            <a:ext cx="3890962" cy="2662237"/>
            <a:chOff x="1473" y="2297"/>
            <a:chExt cx="2451" cy="1677"/>
          </a:xfrm>
        </p:grpSpPr>
        <p:grpSp>
          <p:nvGrpSpPr>
            <p:cNvPr id="134181" name="Group 37"/>
            <p:cNvGrpSpPr/>
            <p:nvPr/>
          </p:nvGrpSpPr>
          <p:grpSpPr bwMode="auto">
            <a:xfrm>
              <a:off x="1473" y="2297"/>
              <a:ext cx="817" cy="589"/>
              <a:chOff x="1428" y="2660"/>
              <a:chExt cx="817" cy="589"/>
            </a:xfrm>
          </p:grpSpPr>
          <p:sp>
            <p:nvSpPr>
              <p:cNvPr id="134161" name="Rectangle 17"/>
              <p:cNvSpPr>
                <a:spLocks noChangeArrowheads="1"/>
              </p:cNvSpPr>
              <p:nvPr/>
            </p:nvSpPr>
            <p:spPr bwMode="auto">
              <a:xfrm>
                <a:off x="1494" y="2795"/>
                <a:ext cx="659" cy="2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  <a:r>
                  <a:rPr lang="en-US" altLang="zh-CN" sz="2400" b="1" i="0">
                    <a:latin typeface="Arial" panose="020B060402020202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400" b="1">
                    <a:latin typeface="Arial" panose="020B0604020202020204" pitchFamily="34" charset="0"/>
                    <a:ea typeface="华文行楷" panose="02010800040101010101" pitchFamily="2" charset="-122"/>
                  </a:rPr>
                  <a:t>NFA</a:t>
                </a:r>
                <a:endPara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graphicFrame>
            <p:nvGraphicFramePr>
              <p:cNvPr id="134176" name="Object 32"/>
              <p:cNvGraphicFramePr>
                <a:graphicFrameLocks noChangeAspect="1"/>
              </p:cNvGraphicFramePr>
              <p:nvPr/>
            </p:nvGraphicFramePr>
            <p:xfrm>
              <a:off x="1428" y="2660"/>
              <a:ext cx="817" cy="5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335" name="VISIO" r:id="rId17" imgW="733425" imgH="504825" progId="Visio.Drawing.11">
                      <p:embed/>
                    </p:oleObj>
                  </mc:Choice>
                  <mc:Fallback>
                    <p:oleObj name="VISIO" r:id="rId17" imgW="733425" imgH="504825" progId="Visio.Drawing.11">
                      <p:embed/>
                      <p:pic>
                        <p:nvPicPr>
                          <p:cNvPr id="0" name="Picture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28" y="2660"/>
                            <a:ext cx="817" cy="5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4185" name="Group 41"/>
            <p:cNvGrpSpPr/>
            <p:nvPr/>
          </p:nvGrpSpPr>
          <p:grpSpPr bwMode="auto">
            <a:xfrm>
              <a:off x="3106" y="2297"/>
              <a:ext cx="817" cy="589"/>
              <a:chOff x="2018" y="2161"/>
              <a:chExt cx="817" cy="589"/>
            </a:xfrm>
          </p:grpSpPr>
          <p:sp>
            <p:nvSpPr>
              <p:cNvPr id="134183" name="Rectangle 39"/>
              <p:cNvSpPr>
                <a:spLocks noChangeArrowheads="1"/>
              </p:cNvSpPr>
              <p:nvPr/>
            </p:nvSpPr>
            <p:spPr bwMode="auto">
              <a:xfrm>
                <a:off x="2142" y="2296"/>
                <a:ext cx="511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Arial" panose="020B0604020202020204" pitchFamily="34" charset="0"/>
                    <a:ea typeface="华文行楷" panose="02010800040101010101" pitchFamily="2" charset="-122"/>
                  </a:rPr>
                  <a:t>NFA</a:t>
                </a:r>
                <a:endPara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graphicFrame>
            <p:nvGraphicFramePr>
              <p:cNvPr id="134184" name="Object 40"/>
              <p:cNvGraphicFramePr>
                <a:graphicFrameLocks noChangeAspect="1"/>
              </p:cNvGraphicFramePr>
              <p:nvPr/>
            </p:nvGraphicFramePr>
            <p:xfrm>
              <a:off x="2018" y="2161"/>
              <a:ext cx="817" cy="5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336" name="Visio" r:id="rId18" imgW="742950" imgH="514350" progId="Visio.Drawing.11">
                      <p:embed/>
                    </p:oleObj>
                  </mc:Choice>
                  <mc:Fallback>
                    <p:oleObj name="Visio" r:id="rId18" imgW="742950" imgH="514350" progId="Visio.Drawing.11">
                      <p:embed/>
                      <p:pic>
                        <p:nvPicPr>
                          <p:cNvPr id="0" name="Picture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8" y="2161"/>
                            <a:ext cx="817" cy="5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4188" name="Group 44"/>
            <p:cNvGrpSpPr/>
            <p:nvPr/>
          </p:nvGrpSpPr>
          <p:grpSpPr bwMode="auto">
            <a:xfrm>
              <a:off x="3107" y="3385"/>
              <a:ext cx="817" cy="589"/>
              <a:chOff x="2018" y="1616"/>
              <a:chExt cx="817" cy="589"/>
            </a:xfrm>
          </p:grpSpPr>
          <p:sp>
            <p:nvSpPr>
              <p:cNvPr id="134186" name="Rectangle 42"/>
              <p:cNvSpPr>
                <a:spLocks noChangeArrowheads="1"/>
              </p:cNvSpPr>
              <p:nvPr/>
            </p:nvSpPr>
            <p:spPr bwMode="auto">
              <a:xfrm>
                <a:off x="2188" y="1752"/>
                <a:ext cx="511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Arial" panose="020B0604020202020204" pitchFamily="34" charset="0"/>
                    <a:ea typeface="华文行楷" panose="02010800040101010101" pitchFamily="2" charset="-122"/>
                  </a:rPr>
                  <a:t>DFA</a:t>
                </a:r>
                <a:endPara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  <p:graphicFrame>
            <p:nvGraphicFramePr>
              <p:cNvPr id="134187" name="Object 43"/>
              <p:cNvGraphicFramePr>
                <a:graphicFrameLocks noChangeAspect="1"/>
              </p:cNvGraphicFramePr>
              <p:nvPr/>
            </p:nvGraphicFramePr>
            <p:xfrm>
              <a:off x="2018" y="1616"/>
              <a:ext cx="817" cy="5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337" name="Visio" r:id="rId20" imgW="742950" imgH="514350" progId="Visio.Drawing.11">
                      <p:embed/>
                    </p:oleObj>
                  </mc:Choice>
                  <mc:Fallback>
                    <p:oleObj name="Visio" r:id="rId20" imgW="742950" imgH="514350" progId="Visio.Drawing.11">
                      <p:embed/>
                      <p:pic>
                        <p:nvPicPr>
                          <p:cNvPr id="0" name="Picture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8" y="1616"/>
                            <a:ext cx="817" cy="5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8" name="文本框 27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03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70" name="Text Box 6"/>
          <p:cNvSpPr txBox="1">
            <a:spLocks noChangeArrowheads="1"/>
          </p:cNvSpPr>
          <p:nvPr/>
        </p:nvSpPr>
        <p:spPr bwMode="auto">
          <a:xfrm>
            <a:off x="973138" y="2420938"/>
            <a:ext cx="7920037" cy="3775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Font typeface="Symbol" panose="05050102010706020507" pitchFamily="18" charset="2"/>
              <a:buChar char="-"/>
            </a:pP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latin typeface="Arial" panose="020B0604020202020204" pitchFamily="34" charset="0"/>
                <a:ea typeface="楷体_GB2312" pitchFamily="49" charset="-122"/>
              </a:rPr>
              <a:t>定理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</a:rPr>
              <a:t>: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L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是正规表达式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表示的语言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则存在一个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Font typeface="Symbol" panose="05050102010706020507" pitchFamily="18" charset="2"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           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E ,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满足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L(E) = L(R) = L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2400" b="1" i="0" dirty="0">
                <a:latin typeface="Arial" panose="020B0604020202020204" pitchFamily="34" charset="0"/>
                <a:ea typeface="楷体_GB2312" pitchFamily="49" charset="-122"/>
              </a:rPr>
              <a:t>证明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</a:rPr>
              <a:t>: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构造性证明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可以通过结构归纳法证明从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可以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 构造出与其等价的，满足如下条件的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-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：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(1)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恰好一个终态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;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(2)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没有弧进入初态；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endParaRPr lang="zh-CN" altLang="en-US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(3)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没有弧离开终态；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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64871" name="Rectangle 7"/>
          <p:cNvSpPr>
            <a:spLocks noChangeArrowheads="1"/>
          </p:cNvSpPr>
          <p:nvPr/>
        </p:nvSpPr>
        <p:spPr bwMode="auto">
          <a:xfrm>
            <a:off x="755650" y="1447800"/>
            <a:ext cx="80010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从正规表达式构造等价的</a:t>
            </a:r>
            <a:r>
              <a:rPr lang="zh-CN" altLang="en-US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</a:rPr>
              <a:t>NFA</a:t>
            </a:r>
            <a:endParaRPr lang="en-US" altLang="zh-CN" sz="3200" b="1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4872" name="Rectangle 8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04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4" name="Text Box 6"/>
          <p:cNvSpPr txBox="1">
            <a:spLocks noChangeArrowheads="1"/>
          </p:cNvSpPr>
          <p:nvPr/>
        </p:nvSpPr>
        <p:spPr bwMode="auto">
          <a:xfrm>
            <a:off x="755650" y="2420938"/>
            <a:ext cx="38147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Font typeface="Symbol" panose="05050102010706020507" pitchFamily="18" charset="2"/>
              <a:buChar char="-"/>
            </a:pPr>
            <a:r>
              <a:rPr lang="en-US" altLang="zh-CN" sz="24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>
                <a:latin typeface="楷体_GB2312" pitchFamily="49" charset="-122"/>
                <a:ea typeface="楷体_GB2312" pitchFamily="49" charset="-122"/>
              </a:rPr>
              <a:t>基础</a:t>
            </a:r>
            <a:r>
              <a:rPr lang="en-US" altLang="zh-CN" sz="2400" b="1" i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400" b="1" i="0">
              <a:solidFill>
                <a:srgbClr val="333399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5897" name="Rectangle 9"/>
          <p:cNvSpPr>
            <a:spLocks noChangeArrowheads="1"/>
          </p:cNvSpPr>
          <p:nvPr/>
        </p:nvSpPr>
        <p:spPr bwMode="auto">
          <a:xfrm>
            <a:off x="1181100" y="3070225"/>
            <a:ext cx="259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对于 </a:t>
            </a: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，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构造为</a:t>
            </a:r>
            <a:endParaRPr lang="zh-CN" altLang="en-US" sz="2400" b="1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65898" name="Rectangle 10"/>
          <p:cNvSpPr>
            <a:spLocks noChangeArrowheads="1"/>
          </p:cNvSpPr>
          <p:nvPr/>
        </p:nvSpPr>
        <p:spPr bwMode="auto">
          <a:xfrm>
            <a:off x="5969000" y="2917825"/>
            <a:ext cx="317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endParaRPr lang="en-US" altLang="zh-CN" sz="2400" b="1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65899" name="Object 11"/>
          <p:cNvGraphicFramePr>
            <a:graphicFrameLocks noChangeAspect="1"/>
          </p:cNvGraphicFramePr>
          <p:nvPr/>
        </p:nvGraphicFramePr>
        <p:xfrm>
          <a:off x="4610100" y="2806700"/>
          <a:ext cx="29146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49" name="Visio" r:id="rId1" imgW="3465830" imgH="1140460" progId="Visio.Drawing.11">
                  <p:embed/>
                </p:oleObj>
              </mc:Choice>
              <mc:Fallback>
                <p:oleObj name="Visio" r:id="rId1" imgW="3465830" imgH="1140460" progId="Visio.Drawing.11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2806700"/>
                        <a:ext cx="29146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01" name="Rectangle 13"/>
          <p:cNvSpPr>
            <a:spLocks noChangeArrowheads="1"/>
          </p:cNvSpPr>
          <p:nvPr/>
        </p:nvSpPr>
        <p:spPr bwMode="auto">
          <a:xfrm>
            <a:off x="1181100" y="5203825"/>
            <a:ext cx="2819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3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对于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构造为</a:t>
            </a:r>
            <a:endParaRPr lang="zh-CN" altLang="en-US" sz="2400" b="1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65902" name="Rectangle 14"/>
          <p:cNvSpPr>
            <a:spLocks noChangeArrowheads="1"/>
          </p:cNvSpPr>
          <p:nvPr/>
        </p:nvSpPr>
        <p:spPr bwMode="auto">
          <a:xfrm>
            <a:off x="6026150" y="5202238"/>
            <a:ext cx="354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endParaRPr lang="en-US" altLang="zh-CN" sz="2400" b="1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65903" name="Object 15"/>
          <p:cNvGraphicFramePr>
            <a:graphicFrameLocks noChangeAspect="1"/>
          </p:cNvGraphicFramePr>
          <p:nvPr/>
        </p:nvGraphicFramePr>
        <p:xfrm>
          <a:off x="4591050" y="5127625"/>
          <a:ext cx="29146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0" name="VISIO" r:id="rId3" imgW="2914650" imgH="952500" progId="Visio.Drawing.11">
                  <p:embed/>
                </p:oleObj>
              </mc:Choice>
              <mc:Fallback>
                <p:oleObj name="VISIO" r:id="rId3" imgW="2914650" imgH="952500" progId="Visio.Drawing.11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5127625"/>
                        <a:ext cx="29146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05" name="Rectangle 17"/>
          <p:cNvSpPr>
            <a:spLocks noChangeArrowheads="1"/>
          </p:cNvSpPr>
          <p:nvPr/>
        </p:nvSpPr>
        <p:spPr bwMode="auto">
          <a:xfrm>
            <a:off x="1181100" y="4060825"/>
            <a:ext cx="28860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2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对于 </a:t>
            </a: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，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构造为</a:t>
            </a:r>
            <a:endParaRPr lang="zh-CN" altLang="en-US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65906" name="Object 18"/>
          <p:cNvGraphicFramePr>
            <a:graphicFrameLocks noChangeAspect="1"/>
          </p:cNvGraphicFramePr>
          <p:nvPr/>
        </p:nvGraphicFramePr>
        <p:xfrm>
          <a:off x="4591050" y="3984625"/>
          <a:ext cx="29146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1" name="VISIO" r:id="rId5" imgW="2914650" imgH="952500" progId="Visio.Drawing.11">
                  <p:embed/>
                </p:oleObj>
              </mc:Choice>
              <mc:Fallback>
                <p:oleObj name="VISIO" r:id="rId5" imgW="2914650" imgH="952500" progId="Visio.Drawing.11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3984625"/>
                        <a:ext cx="29146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07" name="Rectangle 19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65908" name="Rectangle 20"/>
          <p:cNvSpPr>
            <a:spLocks noChangeArrowheads="1"/>
          </p:cNvSpPr>
          <p:nvPr/>
        </p:nvSpPr>
        <p:spPr bwMode="auto">
          <a:xfrm>
            <a:off x="468313" y="1196975"/>
            <a:ext cx="8532812" cy="93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anose="020B0604020202020204" pitchFamily="34" charset="0"/>
                <a:ea typeface="楷体_GB2312" pitchFamily="49" charset="-122"/>
              </a:rPr>
              <a:t>归纳构造过程 </a:t>
            </a:r>
            <a:r>
              <a:rPr lang="en-US" altLang="zh-CN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从正规表达式构造等价的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endParaRPr lang="en-US" altLang="zh-CN" sz="28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0" dirty="0">
                <a:solidFill>
                  <a:srgbClr val="333399"/>
                </a:solidFill>
              </a:rPr>
              <a:t>    </a:t>
            </a:r>
            <a:r>
              <a:rPr lang="zh-CN" altLang="en-US" sz="2800" b="1" i="0" dirty="0">
                <a:solidFill>
                  <a:srgbClr val="333399"/>
                </a:solidFill>
              </a:rPr>
              <a:t>（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Thompson</a:t>
            </a:r>
            <a:r>
              <a:rPr lang="en-US" altLang="zh-CN" sz="2800" dirty="0">
                <a:solidFill>
                  <a:srgbClr val="333399"/>
                </a:solidFill>
              </a:rPr>
              <a:t>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构造法</a:t>
            </a:r>
            <a:r>
              <a:rPr lang="zh-CN" altLang="en-US" sz="2800" b="1" i="0" dirty="0">
                <a:solidFill>
                  <a:srgbClr val="333399"/>
                </a:solidFill>
              </a:rPr>
              <a:t>）</a:t>
            </a:r>
            <a:endParaRPr lang="zh-CN" altLang="en-US" sz="2800" b="1" i="0" dirty="0">
              <a:solidFill>
                <a:srgbClr val="333399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05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833438" y="2420938"/>
            <a:ext cx="14382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Font typeface="Symbol" panose="05050102010706020507" pitchFamily="18" charset="2"/>
              <a:buChar char="-"/>
            </a:pP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i="0">
                <a:latin typeface="楷体_GB2312" pitchFamily="49" charset="-122"/>
                <a:ea typeface="楷体_GB2312" pitchFamily="49" charset="-122"/>
              </a:rPr>
              <a:t>归纳</a:t>
            </a: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b="1" i="0">
              <a:solidFill>
                <a:srgbClr val="333399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6919" name="Rectangle 7"/>
          <p:cNvSpPr>
            <a:spLocks noChangeArrowheads="1"/>
          </p:cNvSpPr>
          <p:nvPr/>
        </p:nvSpPr>
        <p:spPr bwMode="auto">
          <a:xfrm>
            <a:off x="1443038" y="3332163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 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对于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E+F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构造为</a:t>
            </a:r>
            <a:endParaRPr lang="zh-CN" altLang="en-US" sz="2400" b="1" dirty="0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66920" name="Object 8"/>
          <p:cNvGraphicFramePr>
            <a:graphicFrameLocks noChangeAspect="1"/>
          </p:cNvGraphicFramePr>
          <p:nvPr/>
        </p:nvGraphicFramePr>
        <p:xfrm>
          <a:off x="1930400" y="4486275"/>
          <a:ext cx="4297363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58" name="Visio" r:id="rId1" imgW="5102860" imgH="1918970" progId="Visio.Drawing.11">
                  <p:embed/>
                </p:oleObj>
              </mc:Choice>
              <mc:Fallback>
                <p:oleObj name="Visio" r:id="rId1" imgW="5102860" imgH="1918970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4486275"/>
                        <a:ext cx="4297363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1" name="Rectangle 9"/>
          <p:cNvSpPr>
            <a:spLocks noChangeArrowheads="1"/>
          </p:cNvSpPr>
          <p:nvPr/>
        </p:nvSpPr>
        <p:spPr bwMode="auto">
          <a:xfrm>
            <a:off x="5511800" y="5380038"/>
            <a:ext cx="317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2400" b="1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6922" name="Rectangle 10"/>
          <p:cNvSpPr>
            <a:spLocks noChangeArrowheads="1"/>
          </p:cNvSpPr>
          <p:nvPr/>
        </p:nvSpPr>
        <p:spPr bwMode="auto">
          <a:xfrm>
            <a:off x="5511800" y="4694238"/>
            <a:ext cx="317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2400" b="1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6923" name="Rectangle 11"/>
          <p:cNvSpPr>
            <a:spLocks noChangeArrowheads="1"/>
          </p:cNvSpPr>
          <p:nvPr/>
        </p:nvSpPr>
        <p:spPr bwMode="auto">
          <a:xfrm>
            <a:off x="2832100" y="5380038"/>
            <a:ext cx="317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2400" b="1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6924" name="Rectangle 12"/>
          <p:cNvSpPr>
            <a:spLocks noChangeArrowheads="1"/>
          </p:cNvSpPr>
          <p:nvPr/>
        </p:nvSpPr>
        <p:spPr bwMode="auto">
          <a:xfrm>
            <a:off x="2832100" y="4694238"/>
            <a:ext cx="317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24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6925" name="Rectangle 13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66926" name="Rectangle 14"/>
          <p:cNvSpPr>
            <a:spLocks noChangeArrowheads="1"/>
          </p:cNvSpPr>
          <p:nvPr/>
        </p:nvSpPr>
        <p:spPr bwMode="auto">
          <a:xfrm>
            <a:off x="468313" y="1196975"/>
            <a:ext cx="8532812" cy="93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归纳构造过程 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zh-CN" altLang="en-US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从正规表达式构造等价的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endParaRPr lang="en-US" altLang="zh-CN" sz="28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0">
                <a:solidFill>
                  <a:srgbClr val="333399"/>
                </a:solidFill>
              </a:rPr>
              <a:t>    </a:t>
            </a:r>
            <a:r>
              <a:rPr lang="zh-CN" altLang="en-US" sz="2800" b="1" i="0">
                <a:solidFill>
                  <a:srgbClr val="333399"/>
                </a:solidFill>
              </a:rPr>
              <a:t>（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</a:rPr>
              <a:t>Thompson</a:t>
            </a:r>
            <a:r>
              <a:rPr lang="en-US" altLang="zh-CN" sz="2800">
                <a:solidFill>
                  <a:srgbClr val="333399"/>
                </a:solidFill>
              </a:rPr>
              <a:t> </a:t>
            </a:r>
            <a:r>
              <a:rPr lang="zh-CN" altLang="en-US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构造法</a:t>
            </a:r>
            <a:r>
              <a:rPr lang="zh-CN" altLang="en-US" sz="2800" b="1" i="0">
                <a:solidFill>
                  <a:srgbClr val="333399"/>
                </a:solidFill>
              </a:rPr>
              <a:t>）</a:t>
            </a:r>
            <a:endParaRPr lang="zh-CN" altLang="en-US" sz="2800" b="1" i="0">
              <a:solidFill>
                <a:srgbClr val="333399"/>
              </a:solidFill>
            </a:endParaRPr>
          </a:p>
        </p:txBody>
      </p:sp>
      <p:graphicFrame>
        <p:nvGraphicFramePr>
          <p:cNvPr id="166927" name="Object 15"/>
          <p:cNvGraphicFramePr>
            <a:graphicFrameLocks noChangeAspect="1"/>
          </p:cNvGraphicFramePr>
          <p:nvPr/>
        </p:nvGraphicFramePr>
        <p:xfrm>
          <a:off x="5683250" y="2257425"/>
          <a:ext cx="2560638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59" name="Visio" r:id="rId3" imgW="3172460" imgH="1918970" progId="Visio.Drawing.11">
                  <p:embed/>
                </p:oleObj>
              </mc:Choice>
              <mc:Fallback>
                <p:oleObj name="Visio" r:id="rId3" imgW="3172460" imgH="1918970" progId="Visio.Drawing.11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2257425"/>
                        <a:ext cx="2560638" cy="160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06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6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9" grpId="0"/>
      <p:bldP spid="166921" grpId="0"/>
      <p:bldP spid="166922" grpId="0"/>
      <p:bldP spid="166923" grpId="0"/>
      <p:bldP spid="1669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3" name="Rectangle 7"/>
          <p:cNvSpPr>
            <a:spLocks noChangeArrowheads="1"/>
          </p:cNvSpPr>
          <p:nvPr/>
        </p:nvSpPr>
        <p:spPr bwMode="auto">
          <a:xfrm>
            <a:off x="1295400" y="30607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2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对于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EF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构造为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67944" name="Object 8"/>
          <p:cNvGraphicFramePr>
            <a:graphicFrameLocks noChangeAspect="1"/>
          </p:cNvGraphicFramePr>
          <p:nvPr/>
        </p:nvGraphicFramePr>
        <p:xfrm>
          <a:off x="2143125" y="3898900"/>
          <a:ext cx="54006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9" name="Visio" r:id="rId1" imgW="6412230" imgH="789940" progId="Visio.Drawing.11">
                  <p:embed/>
                </p:oleObj>
              </mc:Choice>
              <mc:Fallback>
                <p:oleObj name="Visio" r:id="rId1" imgW="6412230" imgH="789940" progId="Visio.Drawing.11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898900"/>
                        <a:ext cx="540067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5" name="Rectangle 9"/>
          <p:cNvSpPr>
            <a:spLocks noChangeArrowheads="1"/>
          </p:cNvSpPr>
          <p:nvPr/>
        </p:nvSpPr>
        <p:spPr bwMode="auto">
          <a:xfrm>
            <a:off x="4864100" y="3867150"/>
            <a:ext cx="317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2400" b="1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67947" name="Object 11"/>
          <p:cNvGraphicFramePr>
            <a:graphicFrameLocks noChangeAspect="1"/>
          </p:cNvGraphicFramePr>
          <p:nvPr/>
        </p:nvGraphicFramePr>
        <p:xfrm>
          <a:off x="2422525" y="5343525"/>
          <a:ext cx="4297363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0" name="Visio" r:id="rId3" imgW="5102860" imgH="1659255" progId="Visio.Drawing.11">
                  <p:embed/>
                </p:oleObj>
              </mc:Choice>
              <mc:Fallback>
                <p:oleObj name="Visio" r:id="rId3" imgW="5102860" imgH="1659255" progId="Visio.Drawing.11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5343525"/>
                        <a:ext cx="4297363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8" name="Rectangle 12"/>
          <p:cNvSpPr>
            <a:spLocks noChangeArrowheads="1"/>
          </p:cNvSpPr>
          <p:nvPr/>
        </p:nvSpPr>
        <p:spPr bwMode="auto">
          <a:xfrm>
            <a:off x="1295400" y="4756150"/>
            <a:ext cx="281940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3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对于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E*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构造为</a:t>
            </a:r>
            <a:endParaRPr lang="zh-CN" altLang="en-US" sz="2400" b="1" dirty="0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67949" name="Rectangle 13"/>
          <p:cNvSpPr>
            <a:spLocks noChangeArrowheads="1"/>
          </p:cNvSpPr>
          <p:nvPr/>
        </p:nvSpPr>
        <p:spPr bwMode="auto">
          <a:xfrm>
            <a:off x="3340100" y="5594350"/>
            <a:ext cx="317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2400" b="1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7950" name="Rectangle 14"/>
          <p:cNvSpPr>
            <a:spLocks noChangeArrowheads="1"/>
          </p:cNvSpPr>
          <p:nvPr/>
        </p:nvSpPr>
        <p:spPr bwMode="auto">
          <a:xfrm>
            <a:off x="3797300" y="6356350"/>
            <a:ext cx="317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2400" b="1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7951" name="Rectangle 15"/>
          <p:cNvSpPr>
            <a:spLocks noChangeArrowheads="1"/>
          </p:cNvSpPr>
          <p:nvPr/>
        </p:nvSpPr>
        <p:spPr bwMode="auto">
          <a:xfrm>
            <a:off x="5168900" y="5213350"/>
            <a:ext cx="317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2400" b="1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7952" name="Rectangle 16"/>
          <p:cNvSpPr>
            <a:spLocks noChangeArrowheads="1"/>
          </p:cNvSpPr>
          <p:nvPr/>
        </p:nvSpPr>
        <p:spPr bwMode="auto">
          <a:xfrm>
            <a:off x="5943600" y="5594350"/>
            <a:ext cx="317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2400" b="1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7953" name="Rectangle 17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67954" name="Text Box 18"/>
          <p:cNvSpPr txBox="1">
            <a:spLocks noChangeArrowheads="1"/>
          </p:cNvSpPr>
          <p:nvPr/>
        </p:nvSpPr>
        <p:spPr bwMode="auto">
          <a:xfrm>
            <a:off x="833438" y="2166938"/>
            <a:ext cx="14382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Font typeface="Symbol" panose="05050102010706020507" pitchFamily="18" charset="2"/>
              <a:buChar char="-"/>
            </a:pP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i="0">
                <a:latin typeface="楷体_GB2312" pitchFamily="49" charset="-122"/>
                <a:ea typeface="楷体_GB2312" pitchFamily="49" charset="-122"/>
              </a:rPr>
              <a:t>归纳</a:t>
            </a:r>
            <a:r>
              <a:rPr lang="en-US" altLang="zh-CN" sz="2800" b="1" i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b="1" i="0">
              <a:solidFill>
                <a:srgbClr val="333399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7955" name="Rectangle 19"/>
          <p:cNvSpPr>
            <a:spLocks noChangeArrowheads="1"/>
          </p:cNvSpPr>
          <p:nvPr/>
        </p:nvSpPr>
        <p:spPr bwMode="auto">
          <a:xfrm>
            <a:off x="468313" y="1196975"/>
            <a:ext cx="8532812" cy="93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归纳构造过程 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zh-CN" altLang="en-US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从正规表达式构造等价的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endParaRPr lang="en-US" altLang="zh-CN" sz="28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0">
                <a:solidFill>
                  <a:srgbClr val="333399"/>
                </a:solidFill>
              </a:rPr>
              <a:t>    </a:t>
            </a:r>
            <a:r>
              <a:rPr lang="zh-CN" altLang="en-US" sz="2800" b="1" i="0">
                <a:solidFill>
                  <a:srgbClr val="333399"/>
                </a:solidFill>
              </a:rPr>
              <a:t>（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</a:rPr>
              <a:t>Thompson</a:t>
            </a:r>
            <a:r>
              <a:rPr lang="en-US" altLang="zh-CN" sz="2800" b="1">
                <a:solidFill>
                  <a:srgbClr val="333399"/>
                </a:solidFill>
              </a:rPr>
              <a:t> </a:t>
            </a:r>
            <a:r>
              <a:rPr lang="zh-CN" altLang="en-US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构造法</a:t>
            </a:r>
            <a:r>
              <a:rPr lang="zh-CN" altLang="en-US" sz="2800" b="1" i="0">
                <a:solidFill>
                  <a:srgbClr val="333399"/>
                </a:solidFill>
              </a:rPr>
              <a:t>）</a:t>
            </a:r>
            <a:endParaRPr lang="zh-CN" altLang="en-US" sz="2800" b="1" i="0">
              <a:solidFill>
                <a:srgbClr val="333399"/>
              </a:solidFill>
            </a:endParaRPr>
          </a:p>
        </p:txBody>
      </p:sp>
      <p:graphicFrame>
        <p:nvGraphicFramePr>
          <p:cNvPr id="167956" name="Object 20"/>
          <p:cNvGraphicFramePr>
            <a:graphicFrameLocks noChangeAspect="1"/>
          </p:cNvGraphicFramePr>
          <p:nvPr/>
        </p:nvGraphicFramePr>
        <p:xfrm>
          <a:off x="5827713" y="1897063"/>
          <a:ext cx="2560637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1" name="Visio" r:id="rId5" imgW="3172460" imgH="1918970" progId="Visio.Drawing.11">
                  <p:embed/>
                </p:oleObj>
              </mc:Choice>
              <mc:Fallback>
                <p:oleObj name="Visio" r:id="rId5" imgW="3172460" imgH="1918970" progId="Visio.Drawing.11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7713" y="1897063"/>
                        <a:ext cx="2560637" cy="160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07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53" name="Rectangle 17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08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763688" y="1193577"/>
          <a:ext cx="1944216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5" name="Visio" r:id="rId1" imgW="3172460" imgH="1918970" progId="Visio.Drawing.11">
                  <p:embed/>
                </p:oleObj>
              </mc:Choice>
              <mc:Fallback>
                <p:oleObj name="Visio" r:id="rId1" imgW="3172460" imgH="191897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193577"/>
                        <a:ext cx="1944216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4572001" y="1193577"/>
          <a:ext cx="3256412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6" name="Visio" r:id="rId3" imgW="5102860" imgH="1918970" progId="Visio.Drawing.11">
                  <p:embed/>
                </p:oleObj>
              </mc:Choice>
              <mc:Fallback>
                <p:oleObj name="Visio" r:id="rId3" imgW="5102860" imgH="191897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1193577"/>
                        <a:ext cx="3256412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327" y="1412776"/>
            <a:ext cx="741465" cy="1005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0244" y="1412776"/>
            <a:ext cx="741465" cy="9969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2169" y="2132856"/>
            <a:ext cx="747751" cy="1005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0244" y="2129674"/>
            <a:ext cx="741465" cy="9969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742" y="1406733"/>
            <a:ext cx="741465" cy="10053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24" y="1417214"/>
            <a:ext cx="741465" cy="9969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742" y="2129674"/>
            <a:ext cx="747751" cy="10053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23" y="2129674"/>
            <a:ext cx="741465" cy="996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2463" y="1757586"/>
            <a:ext cx="747753" cy="1005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73611" y="126332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(a)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73611" y="2004164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(b)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850317" y="164540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(c)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5189315" y="1337994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5189315" y="1896731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7272463" y="1320632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7265221" y="1946740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0351" y="1738093"/>
            <a:ext cx="747753" cy="10053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504" y="2665201"/>
            <a:ext cx="9144000" cy="400792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53" name="Rectangle 17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09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763688" y="1193577"/>
          <a:ext cx="1944216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91" name="Visio" r:id="rId1" imgW="3172460" imgH="1918970" progId="Visio.Drawing.11">
                  <p:embed/>
                </p:oleObj>
              </mc:Choice>
              <mc:Fallback>
                <p:oleObj name="Visio" r:id="rId1" imgW="3172460" imgH="191897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193577"/>
                        <a:ext cx="1944216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4572001" y="1193577"/>
          <a:ext cx="3256412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92" name="Visio" r:id="rId3" imgW="5102860" imgH="1918970" progId="Visio.Drawing.11">
                  <p:embed/>
                </p:oleObj>
              </mc:Choice>
              <mc:Fallback>
                <p:oleObj name="Visio" r:id="rId3" imgW="5102860" imgH="191897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1193577"/>
                        <a:ext cx="3256412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327" y="1412776"/>
            <a:ext cx="741465" cy="1005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0244" y="1412776"/>
            <a:ext cx="741465" cy="9969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2169" y="2132856"/>
            <a:ext cx="747751" cy="1005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0244" y="2129674"/>
            <a:ext cx="741465" cy="9969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742" y="1406733"/>
            <a:ext cx="741465" cy="10053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24" y="1417214"/>
            <a:ext cx="741465" cy="9969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742" y="2129674"/>
            <a:ext cx="747751" cy="10053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23" y="2129674"/>
            <a:ext cx="741465" cy="996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2463" y="1757586"/>
            <a:ext cx="747753" cy="1005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73611" y="126332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(a)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73611" y="2004164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(b)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850317" y="164540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(c)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5189315" y="1337994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5189315" y="1896731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7272463" y="1320632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7265221" y="1946740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0351" y="1738093"/>
            <a:ext cx="747753" cy="1005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298" y="2642777"/>
            <a:ext cx="6725071" cy="3982074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53" name="Rectangle 17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10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763688" y="1193577"/>
          <a:ext cx="1944216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13" name="Visio" r:id="rId1" imgW="3172460" imgH="1918970" progId="Visio.Drawing.11">
                  <p:embed/>
                </p:oleObj>
              </mc:Choice>
              <mc:Fallback>
                <p:oleObj name="Visio" r:id="rId1" imgW="3172460" imgH="191897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193577"/>
                        <a:ext cx="1944216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4572001" y="1193577"/>
          <a:ext cx="3256412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14" name="Visio" r:id="rId3" imgW="5102860" imgH="1918970" progId="Visio.Drawing.11">
                  <p:embed/>
                </p:oleObj>
              </mc:Choice>
              <mc:Fallback>
                <p:oleObj name="Visio" r:id="rId3" imgW="5102860" imgH="191897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1193577"/>
                        <a:ext cx="3256412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327" y="1412776"/>
            <a:ext cx="741465" cy="1005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0244" y="1412776"/>
            <a:ext cx="741465" cy="9969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2169" y="2132856"/>
            <a:ext cx="747751" cy="1005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0244" y="2129674"/>
            <a:ext cx="741465" cy="9969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742" y="1406733"/>
            <a:ext cx="741465" cy="10053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24" y="1417214"/>
            <a:ext cx="741465" cy="9969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742" y="2129674"/>
            <a:ext cx="747751" cy="10053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23" y="2129674"/>
            <a:ext cx="741465" cy="996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2463" y="1757586"/>
            <a:ext cx="747753" cy="1005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73611" y="126332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(a)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73611" y="2004164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(b)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850317" y="164540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(c)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5189315" y="1337994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5189315" y="1896731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7272463" y="1320632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7265221" y="1946740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0351" y="1738093"/>
            <a:ext cx="747753" cy="1005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85" y="2754807"/>
            <a:ext cx="9144000" cy="387264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53" name="Rectangle 17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11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763688" y="1193577"/>
          <a:ext cx="1944216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57" name="Visio" r:id="rId1" imgW="3172460" imgH="1918970" progId="Visio.Drawing.11">
                  <p:embed/>
                </p:oleObj>
              </mc:Choice>
              <mc:Fallback>
                <p:oleObj name="Visio" r:id="rId1" imgW="3172460" imgH="191897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193577"/>
                        <a:ext cx="1944216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4572001" y="1193577"/>
          <a:ext cx="3256412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58" name="Visio" r:id="rId3" imgW="5102860" imgH="1918970" progId="Visio.Drawing.11">
                  <p:embed/>
                </p:oleObj>
              </mc:Choice>
              <mc:Fallback>
                <p:oleObj name="Visio" r:id="rId3" imgW="5102860" imgH="191897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1193577"/>
                        <a:ext cx="3256412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327" y="1412776"/>
            <a:ext cx="741465" cy="1005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0244" y="1412776"/>
            <a:ext cx="741465" cy="9969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2169" y="2132856"/>
            <a:ext cx="747751" cy="1005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0244" y="2129674"/>
            <a:ext cx="741465" cy="9969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742" y="1406733"/>
            <a:ext cx="741465" cy="10053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24" y="1417214"/>
            <a:ext cx="741465" cy="9969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742" y="2129674"/>
            <a:ext cx="747751" cy="10053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23" y="2129674"/>
            <a:ext cx="741465" cy="996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2463" y="1757586"/>
            <a:ext cx="747753" cy="1005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73611" y="126332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(a)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73611" y="2004164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(b)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850317" y="164540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(c)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5189315" y="1337994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5189315" y="1896731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7272463" y="1320632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7265221" y="1946740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0351" y="1738093"/>
            <a:ext cx="747753" cy="1005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691" y="2868462"/>
            <a:ext cx="7267610" cy="3658458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53" name="Rectangle 17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12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763688" y="1193577"/>
          <a:ext cx="1944216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481" name="Visio" r:id="rId1" imgW="3172460" imgH="1918970" progId="Visio.Drawing.11">
                  <p:embed/>
                </p:oleObj>
              </mc:Choice>
              <mc:Fallback>
                <p:oleObj name="Visio" r:id="rId1" imgW="3172460" imgH="191897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193577"/>
                        <a:ext cx="1944216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4572001" y="1193577"/>
          <a:ext cx="3256412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482" name="Visio" r:id="rId3" imgW="5102860" imgH="1918970" progId="Visio.Drawing.11">
                  <p:embed/>
                </p:oleObj>
              </mc:Choice>
              <mc:Fallback>
                <p:oleObj name="Visio" r:id="rId3" imgW="5102860" imgH="191897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1193577"/>
                        <a:ext cx="3256412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327" y="1412776"/>
            <a:ext cx="741465" cy="1005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0244" y="1412776"/>
            <a:ext cx="741465" cy="9969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2169" y="2132856"/>
            <a:ext cx="747751" cy="1005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0244" y="2129674"/>
            <a:ext cx="741465" cy="9969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742" y="1406733"/>
            <a:ext cx="741465" cy="10053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24" y="1417214"/>
            <a:ext cx="741465" cy="9969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742" y="2129674"/>
            <a:ext cx="747751" cy="10053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23" y="2129674"/>
            <a:ext cx="741465" cy="996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2463" y="1757586"/>
            <a:ext cx="747753" cy="1005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73611" y="126332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(a)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73611" y="2004164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(b)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850317" y="164540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(c)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5189315" y="1337994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5189315" y="1896731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7272463" y="1320632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7265221" y="1946740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0351" y="1738093"/>
            <a:ext cx="747753" cy="1005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8474" y="2741430"/>
            <a:ext cx="8460655" cy="389605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53" name="Rectangle 17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13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763688" y="1193577"/>
          <a:ext cx="1944216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03" name="Visio" r:id="rId1" imgW="3172460" imgH="1918970" progId="Visio.Drawing.11">
                  <p:embed/>
                </p:oleObj>
              </mc:Choice>
              <mc:Fallback>
                <p:oleObj name="Visio" r:id="rId1" imgW="3172460" imgH="191897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193577"/>
                        <a:ext cx="1944216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4572001" y="1193577"/>
          <a:ext cx="3256412" cy="121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04" name="Visio" r:id="rId3" imgW="5102860" imgH="1918970" progId="Visio.Drawing.11">
                  <p:embed/>
                </p:oleObj>
              </mc:Choice>
              <mc:Fallback>
                <p:oleObj name="Visio" r:id="rId3" imgW="5102860" imgH="191897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1193577"/>
                        <a:ext cx="3256412" cy="1217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327" y="1412776"/>
            <a:ext cx="741465" cy="1005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0244" y="1412776"/>
            <a:ext cx="741465" cy="9969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2169" y="2132856"/>
            <a:ext cx="747751" cy="1005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0244" y="2129674"/>
            <a:ext cx="741465" cy="9969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742" y="1406733"/>
            <a:ext cx="741465" cy="10053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24" y="1417214"/>
            <a:ext cx="741465" cy="9969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742" y="2129674"/>
            <a:ext cx="747751" cy="10053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23" y="2129674"/>
            <a:ext cx="741465" cy="996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2463" y="1757586"/>
            <a:ext cx="747753" cy="1005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73611" y="126332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(a)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73611" y="2004164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(b)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850317" y="1645405"/>
            <a:ext cx="388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i="0" dirty="0">
                <a:solidFill>
                  <a:srgbClr val="000000"/>
                </a:solidFill>
              </a:rPr>
              <a:t>(c)</a:t>
            </a:r>
            <a:endParaRPr kumimoji="1" lang="zh-CN" altLang="en-US" sz="1400" i="0" dirty="0">
              <a:solidFill>
                <a:srgbClr val="000000"/>
              </a:solidFill>
            </a:endParaRPr>
          </a:p>
        </p:txBody>
      </p:sp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5189315" y="1337994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" name="Rectangle 12"/>
          <p:cNvSpPr>
            <a:spLocks noChangeArrowheads="1"/>
          </p:cNvSpPr>
          <p:nvPr/>
        </p:nvSpPr>
        <p:spPr bwMode="auto">
          <a:xfrm>
            <a:off x="5189315" y="1896731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7272463" y="1320632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7265221" y="1946740"/>
            <a:ext cx="150838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endParaRPr lang="en-US" altLang="zh-CN" sz="1600" b="1" dirty="0"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0351" y="1738093"/>
            <a:ext cx="747753" cy="1005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75" y="2978654"/>
            <a:ext cx="9144000" cy="333498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6" name="Text Box 6"/>
          <p:cNvSpPr txBox="1">
            <a:spLocks noChangeArrowheads="1"/>
          </p:cNvSpPr>
          <p:nvPr/>
        </p:nvSpPr>
        <p:spPr bwMode="auto">
          <a:xfrm>
            <a:off x="1143000" y="2108200"/>
            <a:ext cx="71167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/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设正规表达式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1*0(0+1)*,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构造等价的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68967" name="Group 7"/>
          <p:cNvGrpSpPr/>
          <p:nvPr/>
        </p:nvGrpSpPr>
        <p:grpSpPr bwMode="auto">
          <a:xfrm>
            <a:off x="2057400" y="4495800"/>
            <a:ext cx="5105400" cy="1149350"/>
            <a:chOff x="1296" y="2832"/>
            <a:chExt cx="3216" cy="724"/>
          </a:xfrm>
        </p:grpSpPr>
        <p:graphicFrame>
          <p:nvGraphicFramePr>
            <p:cNvPr id="168968" name="Object 8"/>
            <p:cNvGraphicFramePr>
              <a:graphicFrameLocks noChangeAspect="1"/>
            </p:cNvGraphicFramePr>
            <p:nvPr/>
          </p:nvGraphicFramePr>
          <p:xfrm>
            <a:off x="2747" y="2880"/>
            <a:ext cx="1765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35" name="VISIO" r:id="rId1" imgW="2809875" imgH="1076325" progId="Visio.Drawing.11">
                    <p:embed/>
                  </p:oleObj>
                </mc:Choice>
                <mc:Fallback>
                  <p:oleObj name="VISIO" r:id="rId1" imgW="2809875" imgH="1076325" progId="Visio.Drawing.11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7" y="2880"/>
                          <a:ext cx="1765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69" name="Rectangle 9"/>
            <p:cNvSpPr>
              <a:spLocks noChangeArrowheads="1"/>
            </p:cNvSpPr>
            <p:nvPr/>
          </p:nvSpPr>
          <p:spPr bwMode="auto">
            <a:xfrm>
              <a:off x="1296" y="3072"/>
              <a:ext cx="442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0+1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graphicFrame>
          <p:nvGraphicFramePr>
            <p:cNvPr id="168970" name="Object 10"/>
            <p:cNvGraphicFramePr>
              <a:graphicFrameLocks noChangeAspect="1"/>
            </p:cNvGraphicFramePr>
            <p:nvPr/>
          </p:nvGraphicFramePr>
          <p:xfrm>
            <a:off x="1969" y="3072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36" name="VISIO" r:id="rId3" imgW="1066800" imgH="723900" progId="Visio.Drawing.11">
                    <p:embed/>
                  </p:oleObj>
                </mc:Choice>
                <mc:Fallback>
                  <p:oleObj name="VISIO" r:id="rId3" imgW="1066800" imgH="723900" progId="Visio.Drawing.11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9" y="3072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71" name="Rectangle 11"/>
            <p:cNvSpPr>
              <a:spLocks noChangeArrowheads="1"/>
            </p:cNvSpPr>
            <p:nvPr/>
          </p:nvSpPr>
          <p:spPr bwMode="auto">
            <a:xfrm>
              <a:off x="4032" y="32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8972" name="Rectangle 12"/>
            <p:cNvSpPr>
              <a:spLocks noChangeArrowheads="1"/>
            </p:cNvSpPr>
            <p:nvPr/>
          </p:nvSpPr>
          <p:spPr bwMode="auto">
            <a:xfrm>
              <a:off x="4032" y="2832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8973" name="Rectangle 13"/>
            <p:cNvSpPr>
              <a:spLocks noChangeArrowheads="1"/>
            </p:cNvSpPr>
            <p:nvPr/>
          </p:nvSpPr>
          <p:spPr bwMode="auto">
            <a:xfrm>
              <a:off x="2976" y="32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8974" name="Rectangle 14"/>
            <p:cNvSpPr>
              <a:spLocks noChangeArrowheads="1"/>
            </p:cNvSpPr>
            <p:nvPr/>
          </p:nvSpPr>
          <p:spPr bwMode="auto">
            <a:xfrm>
              <a:off x="2976" y="2832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68975" name="Group 15"/>
          <p:cNvGrpSpPr/>
          <p:nvPr/>
        </p:nvGrpSpPr>
        <p:grpSpPr bwMode="auto">
          <a:xfrm>
            <a:off x="2209800" y="2819400"/>
            <a:ext cx="4876800" cy="1447800"/>
            <a:chOff x="1392" y="1776"/>
            <a:chExt cx="3072" cy="912"/>
          </a:xfrm>
        </p:grpSpPr>
        <p:graphicFrame>
          <p:nvGraphicFramePr>
            <p:cNvPr id="168976" name="Object 16"/>
            <p:cNvGraphicFramePr>
              <a:graphicFrameLocks noChangeAspect="1"/>
            </p:cNvGraphicFramePr>
            <p:nvPr/>
          </p:nvGraphicFramePr>
          <p:xfrm>
            <a:off x="2681" y="1920"/>
            <a:ext cx="1783" cy="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37" name="VISIO" r:id="rId5" imgW="2838450" imgH="1057275" progId="Visio.Drawing.11">
                    <p:embed/>
                  </p:oleObj>
                </mc:Choice>
                <mc:Fallback>
                  <p:oleObj name="VISIO" r:id="rId5" imgW="2838450" imgH="1057275" progId="Visio.Drawing.11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1" y="1920"/>
                          <a:ext cx="1783" cy="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77" name="Rectangle 17"/>
            <p:cNvSpPr>
              <a:spLocks noChangeArrowheads="1"/>
            </p:cNvSpPr>
            <p:nvPr/>
          </p:nvSpPr>
          <p:spPr bwMode="auto">
            <a:xfrm>
              <a:off x="1392" y="2112"/>
              <a:ext cx="29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1*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graphicFrame>
          <p:nvGraphicFramePr>
            <p:cNvPr id="168978" name="Object 18"/>
            <p:cNvGraphicFramePr>
              <a:graphicFrameLocks noChangeAspect="1"/>
            </p:cNvGraphicFramePr>
            <p:nvPr/>
          </p:nvGraphicFramePr>
          <p:xfrm>
            <a:off x="1969" y="2112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38" name="VISIO" r:id="rId7" imgW="1066800" imgH="723900" progId="Visio.Drawing.11">
                    <p:embed/>
                  </p:oleObj>
                </mc:Choice>
                <mc:Fallback>
                  <p:oleObj name="VISIO" r:id="rId7" imgW="1066800" imgH="723900" progId="Visio.Drawing.11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9" y="2112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79" name="Rectangle 19"/>
            <p:cNvSpPr>
              <a:spLocks noChangeArrowheads="1"/>
            </p:cNvSpPr>
            <p:nvPr/>
          </p:nvSpPr>
          <p:spPr bwMode="auto">
            <a:xfrm>
              <a:off x="2928" y="201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8980" name="Rectangle 20"/>
            <p:cNvSpPr>
              <a:spLocks noChangeArrowheads="1"/>
            </p:cNvSpPr>
            <p:nvPr/>
          </p:nvSpPr>
          <p:spPr bwMode="auto">
            <a:xfrm>
              <a:off x="3984" y="201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8981" name="Rectangle 21"/>
            <p:cNvSpPr>
              <a:spLocks noChangeArrowheads="1"/>
            </p:cNvSpPr>
            <p:nvPr/>
          </p:nvSpPr>
          <p:spPr bwMode="auto">
            <a:xfrm>
              <a:off x="3408" y="2400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8982" name="Rectangle 22"/>
            <p:cNvSpPr>
              <a:spLocks noChangeArrowheads="1"/>
            </p:cNvSpPr>
            <p:nvPr/>
          </p:nvSpPr>
          <p:spPr bwMode="auto">
            <a:xfrm>
              <a:off x="3456" y="177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168983" name="Rectangle 23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68984" name="Rectangle 24"/>
          <p:cNvSpPr>
            <a:spLocks noChangeArrowheads="1"/>
          </p:cNvSpPr>
          <p:nvPr/>
        </p:nvSpPr>
        <p:spPr bwMode="auto">
          <a:xfrm>
            <a:off x="611188" y="1196975"/>
            <a:ext cx="7343775" cy="649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举例 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zh-CN" altLang="en-US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从正规表达式构造等价的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endParaRPr lang="en-US" altLang="zh-CN" sz="28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14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990" name="Group 6"/>
          <p:cNvGrpSpPr/>
          <p:nvPr/>
        </p:nvGrpSpPr>
        <p:grpSpPr bwMode="auto">
          <a:xfrm>
            <a:off x="1219200" y="1919288"/>
            <a:ext cx="7097713" cy="1966912"/>
            <a:chOff x="768" y="1209"/>
            <a:chExt cx="4471" cy="1239"/>
          </a:xfrm>
        </p:grpSpPr>
        <p:sp>
          <p:nvSpPr>
            <p:cNvPr id="169991" name="Rectangle 7"/>
            <p:cNvSpPr>
              <a:spLocks noChangeArrowheads="1"/>
            </p:cNvSpPr>
            <p:nvPr/>
          </p:nvSpPr>
          <p:spPr bwMode="auto">
            <a:xfrm>
              <a:off x="768" y="1536"/>
              <a:ext cx="64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(0+1)*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graphicFrame>
          <p:nvGraphicFramePr>
            <p:cNvPr id="169992" name="Object 8"/>
            <p:cNvGraphicFramePr>
              <a:graphicFrameLocks noChangeAspect="1"/>
            </p:cNvGraphicFramePr>
            <p:nvPr/>
          </p:nvGraphicFramePr>
          <p:xfrm>
            <a:off x="1728" y="1536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062" name="VISIO" r:id="rId1" imgW="1066800" imgH="723900" progId="Visio.Drawing.11">
                    <p:embed/>
                  </p:oleObj>
                </mc:Choice>
                <mc:Fallback>
                  <p:oleObj name="VISIO" r:id="rId1" imgW="1066800" imgH="723900" progId="Visio.Drawing.11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536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93" name="Object 9"/>
            <p:cNvGraphicFramePr>
              <a:graphicFrameLocks noChangeAspect="1"/>
            </p:cNvGraphicFramePr>
            <p:nvPr/>
          </p:nvGraphicFramePr>
          <p:xfrm>
            <a:off x="2448" y="1209"/>
            <a:ext cx="2791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063" name="VISIO" r:id="rId3" imgW="4438650" imgH="1743075" progId="Visio.Drawing.11">
                    <p:embed/>
                  </p:oleObj>
                </mc:Choice>
                <mc:Fallback>
                  <p:oleObj name="VISIO" r:id="rId3" imgW="4438650" imgH="1743075" progId="Visio.Drawing.11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209"/>
                          <a:ext cx="2791" cy="10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9994" name="Rectangle 10"/>
            <p:cNvSpPr>
              <a:spLocks noChangeArrowheads="1"/>
            </p:cNvSpPr>
            <p:nvPr/>
          </p:nvSpPr>
          <p:spPr bwMode="auto">
            <a:xfrm>
              <a:off x="3792" y="2160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9995" name="Rectangle 11"/>
            <p:cNvSpPr>
              <a:spLocks noChangeArrowheads="1"/>
            </p:cNvSpPr>
            <p:nvPr/>
          </p:nvSpPr>
          <p:spPr bwMode="auto">
            <a:xfrm>
              <a:off x="2688" y="15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9996" name="Rectangle 12"/>
            <p:cNvSpPr>
              <a:spLocks noChangeArrowheads="1"/>
            </p:cNvSpPr>
            <p:nvPr/>
          </p:nvSpPr>
          <p:spPr bwMode="auto">
            <a:xfrm>
              <a:off x="4704" y="15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9997" name="Rectangle 13"/>
            <p:cNvSpPr>
              <a:spLocks noChangeArrowheads="1"/>
            </p:cNvSpPr>
            <p:nvPr/>
          </p:nvSpPr>
          <p:spPr bwMode="auto">
            <a:xfrm>
              <a:off x="4320" y="1248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9998" name="Rectangle 14"/>
            <p:cNvSpPr>
              <a:spLocks noChangeArrowheads="1"/>
            </p:cNvSpPr>
            <p:nvPr/>
          </p:nvSpPr>
          <p:spPr bwMode="auto">
            <a:xfrm>
              <a:off x="3120" y="177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9999" name="Rectangle 15"/>
            <p:cNvSpPr>
              <a:spLocks noChangeArrowheads="1"/>
            </p:cNvSpPr>
            <p:nvPr/>
          </p:nvSpPr>
          <p:spPr bwMode="auto">
            <a:xfrm>
              <a:off x="3216" y="15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00" name="Rectangle 16"/>
            <p:cNvSpPr>
              <a:spLocks noChangeArrowheads="1"/>
            </p:cNvSpPr>
            <p:nvPr/>
          </p:nvSpPr>
          <p:spPr bwMode="auto">
            <a:xfrm>
              <a:off x="4312" y="177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01" name="Rectangle 17"/>
            <p:cNvSpPr>
              <a:spLocks noChangeArrowheads="1"/>
            </p:cNvSpPr>
            <p:nvPr/>
          </p:nvSpPr>
          <p:spPr bwMode="auto">
            <a:xfrm>
              <a:off x="4224" y="15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70002" name="Group 18"/>
          <p:cNvGrpSpPr/>
          <p:nvPr/>
        </p:nvGrpSpPr>
        <p:grpSpPr bwMode="auto">
          <a:xfrm>
            <a:off x="838200" y="3581400"/>
            <a:ext cx="7543800" cy="3048000"/>
            <a:chOff x="528" y="2256"/>
            <a:chExt cx="4752" cy="1920"/>
          </a:xfrm>
        </p:grpSpPr>
        <p:graphicFrame>
          <p:nvGraphicFramePr>
            <p:cNvPr id="170003" name="Object 19"/>
            <p:cNvGraphicFramePr>
              <a:graphicFrameLocks noChangeAspect="1"/>
            </p:cNvGraphicFramePr>
            <p:nvPr/>
          </p:nvGraphicFramePr>
          <p:xfrm>
            <a:off x="752" y="2640"/>
            <a:ext cx="4528" cy="1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064" name="VISIO" r:id="rId5" imgW="7191375" imgH="2257425" progId="Visio.Drawing.11">
                    <p:embed/>
                  </p:oleObj>
                </mc:Choice>
                <mc:Fallback>
                  <p:oleObj name="VISIO" r:id="rId5" imgW="7191375" imgH="2257425" progId="Visio.Drawing.11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" y="2640"/>
                          <a:ext cx="4528" cy="1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0004" name="Rectangle 20"/>
            <p:cNvSpPr>
              <a:spLocks noChangeArrowheads="1"/>
            </p:cNvSpPr>
            <p:nvPr/>
          </p:nvSpPr>
          <p:spPr bwMode="auto">
            <a:xfrm>
              <a:off x="528" y="2256"/>
              <a:ext cx="93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1*0(0+1)*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graphicFrame>
          <p:nvGraphicFramePr>
            <p:cNvPr id="170005" name="Object 21"/>
            <p:cNvGraphicFramePr>
              <a:graphicFrameLocks noChangeAspect="1"/>
            </p:cNvGraphicFramePr>
            <p:nvPr/>
          </p:nvGraphicFramePr>
          <p:xfrm>
            <a:off x="1729" y="2256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065" name="VISIO" r:id="rId7" imgW="1066800" imgH="723900" progId="Visio.Drawing.11">
                    <p:embed/>
                  </p:oleObj>
                </mc:Choice>
                <mc:Fallback>
                  <p:oleObj name="VISIO" r:id="rId7" imgW="1066800" imgH="723900" progId="Visio.Drawing.11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9" y="2256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0006" name="Rectangle 22"/>
            <p:cNvSpPr>
              <a:spLocks noChangeArrowheads="1"/>
            </p:cNvSpPr>
            <p:nvPr/>
          </p:nvSpPr>
          <p:spPr bwMode="auto">
            <a:xfrm>
              <a:off x="3744" y="3888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07" name="Rectangle 23"/>
            <p:cNvSpPr>
              <a:spLocks noChangeArrowheads="1"/>
            </p:cNvSpPr>
            <p:nvPr/>
          </p:nvSpPr>
          <p:spPr bwMode="auto">
            <a:xfrm>
              <a:off x="2736" y="3408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08" name="Rectangle 24"/>
            <p:cNvSpPr>
              <a:spLocks noChangeArrowheads="1"/>
            </p:cNvSpPr>
            <p:nvPr/>
          </p:nvSpPr>
          <p:spPr bwMode="auto">
            <a:xfrm>
              <a:off x="3304" y="32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09" name="Rectangle 25"/>
            <p:cNvSpPr>
              <a:spLocks noChangeArrowheads="1"/>
            </p:cNvSpPr>
            <p:nvPr/>
          </p:nvSpPr>
          <p:spPr bwMode="auto">
            <a:xfrm>
              <a:off x="3208" y="3552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10" name="Rectangle 26"/>
            <p:cNvSpPr>
              <a:spLocks noChangeArrowheads="1"/>
            </p:cNvSpPr>
            <p:nvPr/>
          </p:nvSpPr>
          <p:spPr bwMode="auto">
            <a:xfrm>
              <a:off x="4312" y="297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11" name="Rectangle 27"/>
            <p:cNvSpPr>
              <a:spLocks noChangeArrowheads="1"/>
            </p:cNvSpPr>
            <p:nvPr/>
          </p:nvSpPr>
          <p:spPr bwMode="auto">
            <a:xfrm>
              <a:off x="4752" y="32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12" name="Rectangle 28"/>
            <p:cNvSpPr>
              <a:spLocks noChangeArrowheads="1"/>
            </p:cNvSpPr>
            <p:nvPr/>
          </p:nvSpPr>
          <p:spPr bwMode="auto">
            <a:xfrm>
              <a:off x="4224" y="32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13" name="Rectangle 29"/>
            <p:cNvSpPr>
              <a:spLocks noChangeArrowheads="1"/>
            </p:cNvSpPr>
            <p:nvPr/>
          </p:nvSpPr>
          <p:spPr bwMode="auto">
            <a:xfrm>
              <a:off x="4320" y="3552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14" name="Rectangle 30"/>
            <p:cNvSpPr>
              <a:spLocks noChangeArrowheads="1"/>
            </p:cNvSpPr>
            <p:nvPr/>
          </p:nvSpPr>
          <p:spPr bwMode="auto">
            <a:xfrm>
              <a:off x="2920" y="297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15" name="Rectangle 31"/>
            <p:cNvSpPr>
              <a:spLocks noChangeArrowheads="1"/>
            </p:cNvSpPr>
            <p:nvPr/>
          </p:nvSpPr>
          <p:spPr bwMode="auto">
            <a:xfrm>
              <a:off x="2536" y="27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16" name="Rectangle 32"/>
            <p:cNvSpPr>
              <a:spLocks noChangeArrowheads="1"/>
            </p:cNvSpPr>
            <p:nvPr/>
          </p:nvSpPr>
          <p:spPr bwMode="auto">
            <a:xfrm>
              <a:off x="2008" y="27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17" name="Rectangle 33"/>
            <p:cNvSpPr>
              <a:spLocks noChangeArrowheads="1"/>
            </p:cNvSpPr>
            <p:nvPr/>
          </p:nvSpPr>
          <p:spPr bwMode="auto">
            <a:xfrm>
              <a:off x="1536" y="3120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18" name="Rectangle 34"/>
            <p:cNvSpPr>
              <a:spLocks noChangeArrowheads="1"/>
            </p:cNvSpPr>
            <p:nvPr/>
          </p:nvSpPr>
          <p:spPr bwMode="auto">
            <a:xfrm>
              <a:off x="1008" y="2736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0019" name="Rectangle 35"/>
            <p:cNvSpPr>
              <a:spLocks noChangeArrowheads="1"/>
            </p:cNvSpPr>
            <p:nvPr/>
          </p:nvSpPr>
          <p:spPr bwMode="auto">
            <a:xfrm>
              <a:off x="1768" y="2592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170020" name="Rectangle 36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70021" name="Rectangle 37"/>
          <p:cNvSpPr>
            <a:spLocks noChangeArrowheads="1"/>
          </p:cNvSpPr>
          <p:nvPr/>
        </p:nvSpPr>
        <p:spPr bwMode="auto">
          <a:xfrm>
            <a:off x="611188" y="1196975"/>
            <a:ext cx="7343775" cy="649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举例 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zh-CN" altLang="en-US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从正规表达式构造等价的</a:t>
            </a:r>
            <a:r>
              <a:rPr lang="zh-CN" altLang="en-US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8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28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endParaRPr lang="en-US" altLang="zh-CN" sz="28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15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7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23" name="Rectangle 19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611779" y="1340768"/>
            <a:ext cx="8229600" cy="11519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12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若严格依课程所介绍的算法（Thompson 构造法）将某个正规表达式转换为等价的 </a:t>
            </a:r>
            <a:r>
              <a:rPr lang="zh-CN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pt-BR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–NFA</a:t>
            </a:r>
            <a:r>
              <a:rPr lang="zh-CN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，下图所示为该</a:t>
            </a:r>
            <a:r>
              <a:rPr lang="zh-CN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pt-BR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–NFA</a:t>
            </a:r>
            <a:r>
              <a:rPr lang="zh-CN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的转移图表示。试给出这个正规表达式。</a:t>
            </a:r>
            <a:endParaRPr lang="zh-CN" altLang="zh-CN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16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80" y="2852936"/>
            <a:ext cx="5760640" cy="18075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627249" y="4941279"/>
            <a:ext cx="8229600" cy="1151905"/>
            <a:chOff x="627249" y="4941279"/>
            <a:chExt cx="8229600" cy="1151905"/>
          </a:xfrm>
        </p:grpSpPr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627249" y="4941279"/>
              <a:ext cx="8229600" cy="11519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anchor="t" anchorCtr="0"/>
            <a:lstStyle/>
            <a:p>
              <a:pPr>
                <a:lnSpc>
                  <a:spcPct val="120000"/>
                </a:lnSpc>
              </a:pPr>
              <a:r>
                <a:rPr lang="zh-CN" altLang="en-US" sz="2400" i="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解：相应的正规表达式为</a:t>
              </a:r>
              <a:endParaRPr lang="zh-CN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9600" y="5661248"/>
              <a:ext cx="2844800" cy="330200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1085850" y="2278063"/>
            <a:ext cx="7373938" cy="3201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Font typeface="Symbol" panose="05050102010706020507" pitchFamily="18" charset="2"/>
              <a:buChar char="-"/>
            </a:pP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latin typeface="Arial" panose="020B0604020202020204" pitchFamily="34" charset="0"/>
                <a:ea typeface="楷体_GB2312" pitchFamily="49" charset="-122"/>
              </a:rPr>
              <a:t>定理</a:t>
            </a: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: </a:t>
            </a:r>
            <a:r>
              <a:rPr lang="en-US" altLang="zh-CN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L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是某个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 D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的语言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</a:t>
            </a:r>
            <a:r>
              <a:rPr lang="en-US" altLang="zh-CN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则存在一个</a:t>
            </a:r>
            <a:endParaRPr lang="zh-CN" altLang="en-US" sz="28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Font typeface="Symbol" panose="05050102010706020507" pitchFamily="18" charset="2"/>
              <a:buNone/>
            </a:pPr>
            <a:r>
              <a:rPr kumimoji="0"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 正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规表达式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 ,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满足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L(R) = L(D) = L</a:t>
            </a:r>
            <a:r>
              <a:rPr lang="en-US" altLang="zh-CN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8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2800" b="1" i="0" dirty="0">
                <a:latin typeface="Arial" panose="020B0604020202020204" pitchFamily="34" charset="0"/>
                <a:ea typeface="楷体_GB2312" pitchFamily="49" charset="-122"/>
              </a:rPr>
              <a:t>证明</a:t>
            </a: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: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构造性证明</a:t>
            </a:r>
            <a:r>
              <a:rPr lang="en-US" altLang="zh-CN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 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以下是两种构造方法</a:t>
            </a:r>
            <a:endParaRPr lang="zh-CN" altLang="en-US" sz="28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hlinkClick r:id="rId1" action="ppaction://hlinksldjump"/>
              </a:rPr>
              <a:t>(1)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hlinkClick r:id="rId1" action="ppaction://hlinksldjump"/>
              </a:rPr>
              <a:t>路径迭代法（</a:t>
            </a:r>
            <a:r>
              <a:rPr lang="en-US" altLang="zh-CN" sz="28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hlinkClick r:id="rId1" action="ppaction://hlinksldjump"/>
              </a:rPr>
              <a:t>Kleene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hlinkClick r:id="rId1" action="ppaction://hlinksldjump"/>
              </a:rPr>
              <a:t>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hlinkClick r:id="rId1" action="ppaction://hlinksldjump"/>
              </a:rPr>
              <a:t>构造法）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hlinkClick r:id="rId1" action="ppaction://hlinksldjump"/>
              </a:rPr>
              <a:t>;</a:t>
            </a:r>
            <a:endParaRPr lang="en-US" altLang="zh-CN" sz="28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hlinkClick r:id="rId2" action="ppaction://hlinksldjump"/>
              </a:rPr>
              <a:t>(2)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hlinkClick r:id="rId2" action="ppaction://hlinksldjump"/>
              </a:rPr>
              <a:t>状态消去法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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5175" name="Rectangle 7"/>
          <p:cNvSpPr>
            <a:spLocks noChangeArrowheads="1"/>
          </p:cNvSpPr>
          <p:nvPr/>
        </p:nvSpPr>
        <p:spPr bwMode="auto">
          <a:xfrm>
            <a:off x="827088" y="1341438"/>
            <a:ext cx="6632575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从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</a:rPr>
              <a:t>DFA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构造等价的正规表达式</a:t>
            </a:r>
            <a:endParaRPr lang="zh-CN" altLang="en-US" sz="3200" b="1" i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5176" name="Rectangle 8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17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1189038" y="1700213"/>
            <a:ext cx="7199312" cy="48320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Font typeface="Symbol" panose="05050102010706020507" pitchFamily="18" charset="2"/>
              <a:buChar char="-"/>
            </a:pP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latin typeface="Arial" panose="020B0604020202020204" pitchFamily="34" charset="0"/>
                <a:ea typeface="楷体_GB2312" pitchFamily="49" charset="-122"/>
              </a:rPr>
              <a:t>步骤</a:t>
            </a: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:</a:t>
            </a:r>
            <a:endParaRPr lang="en-US" altLang="zh-CN" sz="28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(1)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将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 D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的状态集用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{1, 2, … , n}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表达，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且初态为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(2)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对所有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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i, j </a:t>
            </a:r>
            <a:r>
              <a:rPr lang="en-US" altLang="zh-CN" sz="2400" b="1" i="0" dirty="0">
                <a:solidFill>
                  <a:srgbClr val="333399"/>
                </a:solidFill>
                <a:sym typeface="Symbol" panose="05050102010706020507" pitchFamily="18" charset="2"/>
              </a:rPr>
              <a:t></a:t>
            </a:r>
            <a:r>
              <a:rPr lang="en-US" altLang="zh-CN" b="1" i="0" dirty="0">
                <a:solidFill>
                  <a:srgbClr val="333399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1" i="0" dirty="0">
                <a:solidFill>
                  <a:srgbClr val="333399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2400" b="1" i="0" dirty="0">
                <a:solidFill>
                  <a:srgbClr val="333399"/>
                </a:solidFill>
                <a:sym typeface="Symbol" panose="05050102010706020507" pitchFamily="18" charset="2"/>
              </a:rPr>
              <a:t></a:t>
            </a:r>
            <a:r>
              <a:rPr lang="en-US" altLang="zh-CN" dirty="0"/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zh-CN" altLang="en-US" sz="2400" b="1" i="0" dirty="0">
                <a:latin typeface="Arial" panose="020B0604020202020204" pitchFamily="34" charset="0"/>
                <a:ea typeface="楷体_GB2312" pitchFamily="49" charset="-122"/>
              </a:rPr>
              <a:t>迭代计算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 err="1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sz="2400" b="1" i="0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；</a:t>
            </a:r>
            <a:endParaRPr lang="zh-CN" altLang="en-US" sz="2400" b="1" i="0" baseline="-2500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     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这里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-25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为表示如下语言的正规表达式：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w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L(R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-25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iff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到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有一条标记为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w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路径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且这条路径上除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和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之外的所有状态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的编号均不大于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(3)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通过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(2)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的迭代过程，最终可计算出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en-US" altLang="zh-CN" b="1" baseline="-25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j = 1, 2, … , n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）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(4)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将所有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为任一终态）相“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”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6199" name="Rectangle 7"/>
          <p:cNvSpPr>
            <a:spLocks noChangeArrowheads="1"/>
          </p:cNvSpPr>
          <p:nvPr/>
        </p:nvSpPr>
        <p:spPr bwMode="auto">
          <a:xfrm>
            <a:off x="900113" y="1125538"/>
            <a:ext cx="7559675" cy="504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anose="020B0604020202020204" pitchFamily="34" charset="0"/>
                <a:ea typeface="楷体_GB2312" pitchFamily="49" charset="-122"/>
              </a:rPr>
              <a:t>路径迭代法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（从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构造等价的正规表达式）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6200" name="Rectangle 8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18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2" name="Rectangle 6"/>
          <p:cNvSpPr>
            <a:spLocks noChangeArrowheads="1"/>
          </p:cNvSpPr>
          <p:nvPr/>
        </p:nvSpPr>
        <p:spPr bwMode="auto">
          <a:xfrm>
            <a:off x="395288" y="1125538"/>
            <a:ext cx="8001000" cy="541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anose="020B0604020202020204" pitchFamily="34" charset="0"/>
                <a:ea typeface="楷体_GB2312" pitchFamily="49" charset="-122"/>
              </a:rPr>
              <a:t>计算 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sz="3200" b="1" baseline="30000" dirty="0"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3200" b="1" baseline="30000" dirty="0" err="1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sz="3200" b="1" baseline="30000" dirty="0">
                <a:latin typeface="Arial" panose="020B0604020202020204" pitchFamily="34" charset="0"/>
                <a:ea typeface="楷体_GB2312" pitchFamily="49" charset="-122"/>
              </a:rPr>
              <a:t>) </a:t>
            </a:r>
            <a:r>
              <a:rPr lang="zh-CN" altLang="en-US" sz="3200" b="1" i="0" dirty="0">
                <a:latin typeface="Arial" panose="020B0604020202020204" pitchFamily="34" charset="0"/>
                <a:ea typeface="楷体_GB2312" pitchFamily="49" charset="-122"/>
              </a:rPr>
              <a:t>的迭代过程</a:t>
            </a:r>
            <a:endParaRPr lang="zh-CN" altLang="en-US" sz="3200" b="1" i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7223" name="Rectangle 7"/>
          <p:cNvSpPr>
            <a:spLocks noChangeArrowheads="1"/>
          </p:cNvSpPr>
          <p:nvPr/>
        </p:nvSpPr>
        <p:spPr bwMode="auto">
          <a:xfrm>
            <a:off x="776288" y="1685925"/>
            <a:ext cx="221138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latin typeface="Arial" panose="020B0604020202020204" pitchFamily="34" charset="0"/>
                <a:ea typeface="楷体_GB2312" pitchFamily="49" charset="-122"/>
              </a:rPr>
              <a:t>基础</a:t>
            </a: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: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k = 0</a:t>
            </a:r>
            <a:endParaRPr lang="en-US" altLang="zh-CN" sz="2800" b="1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1038225" y="2205038"/>
            <a:ext cx="2020888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Case 1   </a:t>
            </a:r>
            <a:r>
              <a:rPr lang="en-US" altLang="zh-CN" sz="2800" b="1" dirty="0" err="1">
                <a:solidFill>
                  <a:srgbClr val="333399"/>
                </a:solidFill>
                <a:ea typeface="华文行楷" panose="02010800040101010101" pitchFamily="2" charset="-122"/>
              </a:rPr>
              <a:t>i</a:t>
            </a:r>
            <a:r>
              <a:rPr lang="en-US" altLang="zh-CN" sz="2800" b="1" dirty="0" err="1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800" b="1" dirty="0" err="1">
                <a:solidFill>
                  <a:srgbClr val="333399"/>
                </a:solidFill>
                <a:ea typeface="华文行楷" panose="02010800040101010101" pitchFamily="2" charset="-122"/>
              </a:rPr>
              <a:t>j</a:t>
            </a:r>
            <a:endParaRPr lang="en-US" altLang="zh-CN" sz="2800" b="1" dirty="0">
              <a:solidFill>
                <a:srgbClr val="333399"/>
              </a:solidFill>
              <a:ea typeface="华文行楷" panose="02010800040101010101" pitchFamily="2" charset="-122"/>
            </a:endParaRPr>
          </a:p>
        </p:txBody>
      </p:sp>
      <p:sp>
        <p:nvSpPr>
          <p:cNvPr id="137225" name="Rectangle 9"/>
          <p:cNvSpPr>
            <a:spLocks noChangeArrowheads="1"/>
          </p:cNvSpPr>
          <p:nvPr/>
        </p:nvSpPr>
        <p:spPr bwMode="auto">
          <a:xfrm>
            <a:off x="1187450" y="2743200"/>
            <a:ext cx="51847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若不存在从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到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的弧，则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；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37226" name="Rectangle 10"/>
          <p:cNvSpPr>
            <a:spLocks noChangeArrowheads="1"/>
          </p:cNvSpPr>
          <p:nvPr/>
        </p:nvSpPr>
        <p:spPr bwMode="auto">
          <a:xfrm>
            <a:off x="1187450" y="3152775"/>
            <a:ext cx="76977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若仅存在一条从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到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的弧，且标记为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，则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；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37227" name="Rectangle 11"/>
          <p:cNvSpPr>
            <a:spLocks noChangeArrowheads="1"/>
          </p:cNvSpPr>
          <p:nvPr/>
        </p:nvSpPr>
        <p:spPr bwMode="auto">
          <a:xfrm>
            <a:off x="1211263" y="3533775"/>
            <a:ext cx="7464425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若存在多条从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到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的弧，且标记为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, 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, … , 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m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 则 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 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a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2 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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… 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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a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m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；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37228" name="Rectangle 12"/>
          <p:cNvSpPr>
            <a:spLocks noChangeArrowheads="1"/>
          </p:cNvSpPr>
          <p:nvPr/>
        </p:nvSpPr>
        <p:spPr bwMode="auto">
          <a:xfrm>
            <a:off x="1042988" y="4292600"/>
            <a:ext cx="203358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Case 2   </a:t>
            </a:r>
            <a:r>
              <a:rPr lang="en-US" altLang="zh-CN" sz="28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endParaRPr lang="en-US" altLang="zh-CN" sz="28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7229" name="Rectangle 13"/>
          <p:cNvSpPr>
            <a:spLocks noChangeArrowheads="1"/>
          </p:cNvSpPr>
          <p:nvPr/>
        </p:nvSpPr>
        <p:spPr bwMode="auto">
          <a:xfrm>
            <a:off x="1201738" y="4724400"/>
            <a:ext cx="71866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若不存在从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到自身的圈，则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；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37230" name="Rectangle 14"/>
          <p:cNvSpPr>
            <a:spLocks noChangeArrowheads="1"/>
          </p:cNvSpPr>
          <p:nvPr/>
        </p:nvSpPr>
        <p:spPr bwMode="auto">
          <a:xfrm>
            <a:off x="1187450" y="5149850"/>
            <a:ext cx="77057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若存在一个从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到自身的圈且标记为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，则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；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37231" name="Rectangle 15"/>
          <p:cNvSpPr>
            <a:spLocks noChangeArrowheads="1"/>
          </p:cNvSpPr>
          <p:nvPr/>
        </p:nvSpPr>
        <p:spPr bwMode="auto">
          <a:xfrm>
            <a:off x="1174750" y="5661025"/>
            <a:ext cx="7573963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若存在多个从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到自身的圈，且标记为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, 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, … , a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m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 则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=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 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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a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2 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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… 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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a</a:t>
            </a:r>
            <a:r>
              <a:rPr lang="en-US" altLang="zh-CN" sz="2400" b="1" baseline="-2500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m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；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37232" name="Rectangle 16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19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3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3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5" grpId="0" autoUpdateAnimBg="0"/>
      <p:bldP spid="137226" grpId="0" autoUpdateAnimBg="0"/>
      <p:bldP spid="137227" grpId="0" autoUpdateAnimBg="0"/>
      <p:bldP spid="137229" grpId="0" autoUpdateAnimBg="0"/>
      <p:bldP spid="137230" grpId="0" autoUpdateAnimBg="0"/>
      <p:bldP spid="13723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6" name="Rectangle 6"/>
          <p:cNvSpPr>
            <a:spLocks noChangeArrowheads="1"/>
          </p:cNvSpPr>
          <p:nvPr/>
        </p:nvSpPr>
        <p:spPr bwMode="auto">
          <a:xfrm>
            <a:off x="603250" y="1144588"/>
            <a:ext cx="8001000" cy="555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Arial" panose="020B0604020202020204" pitchFamily="34" charset="0"/>
                <a:ea typeface="楷体_GB2312" pitchFamily="49" charset="-122"/>
              </a:rPr>
              <a:t>计算 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sz="3200" b="1" baseline="30000" dirty="0"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3200" b="1" baseline="30000" dirty="0" err="1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sz="3200" b="1" baseline="30000" dirty="0">
                <a:latin typeface="Arial" panose="020B0604020202020204" pitchFamily="34" charset="0"/>
                <a:ea typeface="楷体_GB2312" pitchFamily="49" charset="-122"/>
              </a:rPr>
              <a:t>) </a:t>
            </a:r>
            <a:r>
              <a:rPr lang="zh-CN" altLang="en-US" sz="3200" b="1" i="0" dirty="0">
                <a:latin typeface="Arial" panose="020B0604020202020204" pitchFamily="34" charset="0"/>
                <a:ea typeface="楷体_GB2312" pitchFamily="49" charset="-122"/>
              </a:rPr>
              <a:t>的迭代过程</a:t>
            </a:r>
            <a:endParaRPr lang="zh-CN" altLang="en-US" sz="3200" b="1" i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838200" y="1844675"/>
            <a:ext cx="8077200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latin typeface="Arial" panose="020B0604020202020204" pitchFamily="34" charset="0"/>
                <a:ea typeface="楷体_GB2312" pitchFamily="49" charset="-122"/>
              </a:rPr>
              <a:t>归纳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</a:rPr>
              <a:t>: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假设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1 )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j = 1, 2, … , n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）已经求出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则迭代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  公式为  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 err="1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)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= R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1 )  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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)*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1 )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b="1" baseline="3000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8248" name="Rectangle 8"/>
          <p:cNvSpPr>
            <a:spLocks noChangeArrowheads="1"/>
          </p:cNvSpPr>
          <p:nvPr/>
        </p:nvSpPr>
        <p:spPr bwMode="auto">
          <a:xfrm>
            <a:off x="1116013" y="3656013"/>
            <a:ext cx="7554912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Case 1  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路径不经过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k . 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此时，标记该路径的字符串属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于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L(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1 )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);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1116013" y="4494213"/>
            <a:ext cx="7777162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Case 2  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路径经过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至少一次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 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此时，标记该路径的字符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串属于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L(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1 )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)*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( k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-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latin typeface="Arial" panose="020B0604020202020204" pitchFamily="34" charset="0"/>
                <a:ea typeface="楷体_GB2312" pitchFamily="49" charset="-122"/>
              </a:rPr>
              <a:t>1 )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).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如下图所示：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8250" name="Rectangle 10"/>
          <p:cNvSpPr>
            <a:spLocks noChangeArrowheads="1"/>
          </p:cNvSpPr>
          <p:nvPr/>
        </p:nvSpPr>
        <p:spPr bwMode="auto">
          <a:xfrm>
            <a:off x="1116013" y="2741613"/>
            <a:ext cx="784225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2400" b="1" i="0" dirty="0">
                <a:latin typeface="Arial" panose="020B0604020202020204" pitchFamily="34" charset="0"/>
                <a:ea typeface="楷体_GB2312" pitchFamily="49" charset="-122"/>
              </a:rPr>
              <a:t>分析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</a:rPr>
              <a:t>: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考虑从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到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的路径（除 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和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之外的所有状态的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编号不大于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）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138251" name="Object 11"/>
          <p:cNvGraphicFramePr>
            <a:graphicFrameLocks noChangeAspect="1"/>
          </p:cNvGraphicFramePr>
          <p:nvPr/>
        </p:nvGraphicFramePr>
        <p:xfrm>
          <a:off x="1541463" y="5503863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36" name="VISIO" r:id="rId1" imgW="518160" imgH="518160" progId="Visio.Drawing.11">
                  <p:embed/>
                </p:oleObj>
              </mc:Choice>
              <mc:Fallback>
                <p:oleObj name="VISIO" r:id="rId1" imgW="518160" imgH="518160" progId="Visio.Drawing.11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463" y="5503863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2" name="Object 12"/>
          <p:cNvGraphicFramePr>
            <a:graphicFrameLocks noChangeAspect="1"/>
          </p:cNvGraphicFramePr>
          <p:nvPr/>
        </p:nvGraphicFramePr>
        <p:xfrm>
          <a:off x="1905000" y="5486400"/>
          <a:ext cx="9747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37" name="VISIO" r:id="rId3" imgW="970915" imgH="509270" progId="Visio.Drawing.11">
                  <p:embed/>
                </p:oleObj>
              </mc:Choice>
              <mc:Fallback>
                <p:oleObj name="VISIO" r:id="rId3" imgW="970915" imgH="509270" progId="Visio.Drawing.11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486400"/>
                        <a:ext cx="9747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3" name="Object 13"/>
          <p:cNvGraphicFramePr>
            <a:graphicFrameLocks noChangeAspect="1"/>
          </p:cNvGraphicFramePr>
          <p:nvPr/>
        </p:nvGraphicFramePr>
        <p:xfrm>
          <a:off x="2684463" y="5503863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38" name="VISIO" r:id="rId5" imgW="518160" imgH="518160" progId="Visio.Drawing.11">
                  <p:embed/>
                </p:oleObj>
              </mc:Choice>
              <mc:Fallback>
                <p:oleObj name="VISIO" r:id="rId5" imgW="518160" imgH="518160" progId="Visio.Drawing.11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5503863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4" name="Object 14"/>
          <p:cNvGraphicFramePr>
            <a:graphicFrameLocks noChangeAspect="1"/>
          </p:cNvGraphicFramePr>
          <p:nvPr/>
        </p:nvGraphicFramePr>
        <p:xfrm>
          <a:off x="3043238" y="5511800"/>
          <a:ext cx="9953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39" name="VISIO" r:id="rId7" imgW="989965" imgH="433705" progId="Visio.Drawing.11">
                  <p:embed/>
                </p:oleObj>
              </mc:Choice>
              <mc:Fallback>
                <p:oleObj name="VISIO" r:id="rId7" imgW="989965" imgH="433705" progId="Visio.Drawing.11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238" y="5511800"/>
                        <a:ext cx="9953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5" name="Object 15"/>
          <p:cNvGraphicFramePr>
            <a:graphicFrameLocks noChangeAspect="1"/>
          </p:cNvGraphicFramePr>
          <p:nvPr/>
        </p:nvGraphicFramePr>
        <p:xfrm>
          <a:off x="3827463" y="5503863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40" name="VISIO" r:id="rId9" imgW="518160" imgH="518160" progId="Visio.Drawing.11">
                  <p:embed/>
                </p:oleObj>
              </mc:Choice>
              <mc:Fallback>
                <p:oleObj name="VISIO" r:id="rId9" imgW="518160" imgH="518160" progId="Visio.Drawing.11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463" y="5503863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6" name="Object 16"/>
          <p:cNvGraphicFramePr>
            <a:graphicFrameLocks noChangeAspect="1"/>
          </p:cNvGraphicFramePr>
          <p:nvPr/>
        </p:nvGraphicFramePr>
        <p:xfrm>
          <a:off x="4267200" y="5486400"/>
          <a:ext cx="85248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41" name="VISIO" r:id="rId10" imgW="848360" imgH="396240" progId="Visio.Drawing.11">
                  <p:embed/>
                </p:oleObj>
              </mc:Choice>
              <mc:Fallback>
                <p:oleObj name="VISIO" r:id="rId10" imgW="848360" imgH="396240" progId="Visio.Drawing.11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486400"/>
                        <a:ext cx="85248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7" name="Object 17"/>
          <p:cNvGraphicFramePr>
            <a:graphicFrameLocks noChangeAspect="1"/>
          </p:cNvGraphicFramePr>
          <p:nvPr/>
        </p:nvGraphicFramePr>
        <p:xfrm>
          <a:off x="4970463" y="5503863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42" name="VISIO" r:id="rId12" imgW="518160" imgH="518160" progId="Visio.Drawing.11">
                  <p:embed/>
                </p:oleObj>
              </mc:Choice>
              <mc:Fallback>
                <p:oleObj name="VISIO" r:id="rId12" imgW="518160" imgH="518160" progId="Visio.Drawing.11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463" y="5503863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8" name="Object 18"/>
          <p:cNvGraphicFramePr>
            <a:graphicFrameLocks noChangeAspect="1"/>
          </p:cNvGraphicFramePr>
          <p:nvPr/>
        </p:nvGraphicFramePr>
        <p:xfrm>
          <a:off x="5334000" y="5562600"/>
          <a:ext cx="9747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43" name="VISIO" r:id="rId13" imgW="970915" imgH="414655" progId="Visio.Drawing.11">
                  <p:embed/>
                </p:oleObj>
              </mc:Choice>
              <mc:Fallback>
                <p:oleObj name="VISIO" r:id="rId13" imgW="970915" imgH="414655" progId="Visio.Drawing.11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562600"/>
                        <a:ext cx="9747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9" name="Object 19"/>
          <p:cNvGraphicFramePr>
            <a:graphicFrameLocks noChangeAspect="1"/>
          </p:cNvGraphicFramePr>
          <p:nvPr/>
        </p:nvGraphicFramePr>
        <p:xfrm>
          <a:off x="6113463" y="5503863"/>
          <a:ext cx="5159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444" name="VISIO" r:id="rId15" imgW="518160" imgH="518160" progId="Visio.Drawing.11">
                  <p:embed/>
                </p:oleObj>
              </mc:Choice>
              <mc:Fallback>
                <p:oleObj name="VISIO" r:id="rId15" imgW="518160" imgH="518160" progId="Visio.Drawing.11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3463" y="5503863"/>
                        <a:ext cx="515937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60" name="Group 20"/>
          <p:cNvGrpSpPr/>
          <p:nvPr/>
        </p:nvGrpSpPr>
        <p:grpSpPr bwMode="auto">
          <a:xfrm>
            <a:off x="1752600" y="6096000"/>
            <a:ext cx="1063625" cy="609600"/>
            <a:chOff x="1104" y="3840"/>
            <a:chExt cx="670" cy="384"/>
          </a:xfrm>
        </p:grpSpPr>
        <p:graphicFrame>
          <p:nvGraphicFramePr>
            <p:cNvPr id="138261" name="Object 21"/>
            <p:cNvGraphicFramePr>
              <a:graphicFrameLocks noChangeAspect="1"/>
            </p:cNvGraphicFramePr>
            <p:nvPr/>
          </p:nvGraphicFramePr>
          <p:xfrm>
            <a:off x="1104" y="3840"/>
            <a:ext cx="67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445" name="VISIO" r:id="rId17" imgW="1056005" imgH="264160" progId="Visio.Drawing.11">
                    <p:embed/>
                  </p:oleObj>
                </mc:Choice>
                <mc:Fallback>
                  <p:oleObj name="VISIO" r:id="rId17" imgW="1056005" imgH="264160" progId="Visio.Drawing.11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840"/>
                          <a:ext cx="67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2" name="Rectangle 22"/>
            <p:cNvSpPr>
              <a:spLocks noChangeArrowheads="1"/>
            </p:cNvSpPr>
            <p:nvPr/>
          </p:nvSpPr>
          <p:spPr bwMode="auto">
            <a:xfrm>
              <a:off x="1131" y="3936"/>
              <a:ext cx="597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 k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i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-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k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1 )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</p:grpSp>
      <p:grpSp>
        <p:nvGrpSpPr>
          <p:cNvPr id="138263" name="Group 23"/>
          <p:cNvGrpSpPr/>
          <p:nvPr/>
        </p:nvGrpSpPr>
        <p:grpSpPr bwMode="auto">
          <a:xfrm>
            <a:off x="3013075" y="6143625"/>
            <a:ext cx="2092325" cy="561975"/>
            <a:chOff x="1898" y="3870"/>
            <a:chExt cx="1318" cy="354"/>
          </a:xfrm>
        </p:grpSpPr>
        <p:graphicFrame>
          <p:nvGraphicFramePr>
            <p:cNvPr id="138264" name="Object 24"/>
            <p:cNvGraphicFramePr>
              <a:graphicFrameLocks noChangeAspect="1"/>
            </p:cNvGraphicFramePr>
            <p:nvPr/>
          </p:nvGraphicFramePr>
          <p:xfrm>
            <a:off x="1898" y="3870"/>
            <a:ext cx="1318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446" name="VISIO" r:id="rId19" imgW="2073910" imgH="264160" progId="Visio.Drawing.11">
                    <p:embed/>
                  </p:oleObj>
                </mc:Choice>
                <mc:Fallback>
                  <p:oleObj name="VISIO" r:id="rId19" imgW="2073910" imgH="264160" progId="Visio.Drawing.11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8" y="3870"/>
                          <a:ext cx="1318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5" name="Rectangle 25"/>
            <p:cNvSpPr>
              <a:spLocks noChangeArrowheads="1"/>
            </p:cNvSpPr>
            <p:nvPr/>
          </p:nvSpPr>
          <p:spPr bwMode="auto">
            <a:xfrm>
              <a:off x="2160" y="3936"/>
              <a:ext cx="849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dirty="0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 dirty="0">
                  <a:ea typeface="华文行楷" panose="02010800040101010101" pitchFamily="2" charset="-122"/>
                </a:rPr>
                <a:t>( k</a:t>
              </a:r>
              <a:r>
                <a:rPr lang="en-US" altLang="zh-CN" b="1" baseline="-25000" dirty="0">
                  <a:ea typeface="华文行楷" panose="02010800040101010101" pitchFamily="2" charset="-122"/>
                </a:rPr>
                <a:t>k</a:t>
              </a:r>
              <a:r>
                <a:rPr lang="en-US" altLang="zh-CN" b="1" baseline="30000" dirty="0">
                  <a:ea typeface="华文行楷" panose="02010800040101010101" pitchFamily="2" charset="-122"/>
                </a:rPr>
                <a:t>-</a:t>
              </a:r>
              <a:r>
                <a:rPr lang="en-US" altLang="zh-CN" b="1" baseline="-25000" dirty="0">
                  <a:ea typeface="华文行楷" panose="02010800040101010101" pitchFamily="2" charset="-122"/>
                </a:rPr>
                <a:t>k</a:t>
              </a:r>
              <a:r>
                <a:rPr lang="en-US" altLang="zh-CN" b="1" baseline="30000" dirty="0">
                  <a:ea typeface="华文行楷" panose="02010800040101010101" pitchFamily="2" charset="-122"/>
                </a:rPr>
                <a:t>1 ) </a:t>
              </a:r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)*</a:t>
              </a:r>
              <a:endParaRPr lang="en-US" altLang="zh-CN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38266" name="Group 26"/>
          <p:cNvGrpSpPr/>
          <p:nvPr/>
        </p:nvGrpSpPr>
        <p:grpSpPr bwMode="auto">
          <a:xfrm>
            <a:off x="5334000" y="6096000"/>
            <a:ext cx="1063625" cy="609600"/>
            <a:chOff x="3360" y="3840"/>
            <a:chExt cx="670" cy="384"/>
          </a:xfrm>
        </p:grpSpPr>
        <p:graphicFrame>
          <p:nvGraphicFramePr>
            <p:cNvPr id="138267" name="Object 27"/>
            <p:cNvGraphicFramePr>
              <a:graphicFrameLocks noChangeAspect="1"/>
            </p:cNvGraphicFramePr>
            <p:nvPr/>
          </p:nvGraphicFramePr>
          <p:xfrm>
            <a:off x="3360" y="3840"/>
            <a:ext cx="67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447" name="VISIO" r:id="rId21" imgW="1056005" imgH="264160" progId="Visio.Drawing.11">
                    <p:embed/>
                  </p:oleObj>
                </mc:Choice>
                <mc:Fallback>
                  <p:oleObj name="VISIO" r:id="rId21" imgW="1056005" imgH="264160" progId="Visio.Drawing.11">
                    <p:embed/>
                    <p:pic>
                      <p:nvPicPr>
                        <p:cNvPr id="0" name="Picture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840"/>
                          <a:ext cx="67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8" name="Rectangle 28"/>
            <p:cNvSpPr>
              <a:spLocks noChangeArrowheads="1"/>
            </p:cNvSpPr>
            <p:nvPr/>
          </p:nvSpPr>
          <p:spPr bwMode="auto">
            <a:xfrm>
              <a:off x="3387" y="3936"/>
              <a:ext cx="597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 k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k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-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j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1 )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</p:grpSp>
      <p:sp>
        <p:nvSpPr>
          <p:cNvPr id="138269" name="Rectangle 29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20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8" grpId="0" autoUpdateAnimBg="0"/>
      <p:bldP spid="138249" grpId="0" autoUpdateAnimBg="0"/>
      <p:bldP spid="13825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70" name="Rectangle 6"/>
          <p:cNvSpPr>
            <a:spLocks noChangeArrowheads="1"/>
          </p:cNvSpPr>
          <p:nvPr/>
        </p:nvSpPr>
        <p:spPr bwMode="auto">
          <a:xfrm>
            <a:off x="1185863" y="1311275"/>
            <a:ext cx="511492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楷体_GB2312" pitchFamily="49" charset="-122"/>
                <a:ea typeface="楷体_GB2312" pitchFamily="49" charset="-122"/>
              </a:rPr>
              <a:t>路径迭代法举例</a:t>
            </a:r>
            <a:endParaRPr lang="zh-CN" altLang="en-US" sz="3200" b="1" i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39271" name="Object 7"/>
          <p:cNvGraphicFramePr>
            <a:graphicFrameLocks noChangeAspect="1"/>
          </p:cNvGraphicFramePr>
          <p:nvPr/>
        </p:nvGraphicFramePr>
        <p:xfrm>
          <a:off x="2268538" y="2130425"/>
          <a:ext cx="4608512" cy="165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86" name="Visio" r:id="rId1" imgW="3849370" imgH="1399540" progId="Visio.Drawing.11">
                  <p:embed/>
                </p:oleObj>
              </mc:Choice>
              <mc:Fallback>
                <p:oleObj name="Visio" r:id="rId1" imgW="3849370" imgH="1399540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130425"/>
                        <a:ext cx="4608512" cy="165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2" name="Line 8"/>
          <p:cNvSpPr>
            <a:spLocks noChangeShapeType="1"/>
          </p:cNvSpPr>
          <p:nvPr/>
        </p:nvSpPr>
        <p:spPr bwMode="auto">
          <a:xfrm>
            <a:off x="3179763" y="4076700"/>
            <a:ext cx="3048000" cy="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39273" name="Line 9"/>
          <p:cNvSpPr>
            <a:spLocks noChangeShapeType="1"/>
          </p:cNvSpPr>
          <p:nvPr/>
        </p:nvSpPr>
        <p:spPr bwMode="auto">
          <a:xfrm>
            <a:off x="3179763" y="4152900"/>
            <a:ext cx="3048000" cy="0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39274" name="Line 10"/>
          <p:cNvSpPr>
            <a:spLocks noChangeShapeType="1"/>
          </p:cNvSpPr>
          <p:nvPr/>
        </p:nvSpPr>
        <p:spPr bwMode="auto">
          <a:xfrm>
            <a:off x="4246563" y="4152900"/>
            <a:ext cx="0" cy="1685925"/>
          </a:xfrm>
          <a:prstGeom prst="line">
            <a:avLst/>
          </a:prstGeom>
          <a:noFill/>
          <a:ln w="9525">
            <a:solidFill>
              <a:srgbClr val="800080"/>
            </a:solidFill>
            <a:miter lim="800000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39275" name="Rectangle 11"/>
          <p:cNvSpPr>
            <a:spLocks noChangeArrowheads="1"/>
          </p:cNvSpPr>
          <p:nvPr/>
        </p:nvSpPr>
        <p:spPr bwMode="auto">
          <a:xfrm>
            <a:off x="3332163" y="4162425"/>
            <a:ext cx="762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</a:rPr>
              <a:t>R</a:t>
            </a:r>
            <a:r>
              <a:rPr lang="en-US" altLang="zh-CN" b="1" baseline="30000">
                <a:ea typeface="华文行楷" panose="02010800040101010101" pitchFamily="2" charset="-122"/>
              </a:rPr>
              <a:t>(</a:t>
            </a:r>
            <a:r>
              <a:rPr lang="en-US" altLang="zh-CN" b="1" baseline="-25000">
                <a:ea typeface="华文行楷" panose="02010800040101010101" pitchFamily="2" charset="-122"/>
              </a:rPr>
              <a:t>1</a:t>
            </a:r>
            <a:r>
              <a:rPr lang="en-US" altLang="zh-CN" b="1" baseline="30000">
                <a:ea typeface="华文行楷" panose="02010800040101010101" pitchFamily="2" charset="-122"/>
              </a:rPr>
              <a:t>0</a:t>
            </a:r>
            <a:r>
              <a:rPr lang="en-US" altLang="zh-CN" b="1" baseline="-25000">
                <a:ea typeface="华文行楷" panose="02010800040101010101" pitchFamily="2" charset="-122"/>
              </a:rPr>
              <a:t>1</a:t>
            </a:r>
            <a:r>
              <a:rPr lang="en-US" altLang="zh-CN" b="1" baseline="30000">
                <a:ea typeface="华文行楷" panose="02010800040101010101" pitchFamily="2" charset="-122"/>
              </a:rPr>
              <a:t>)</a:t>
            </a:r>
            <a:endParaRPr lang="en-US" altLang="zh-CN" b="1" baseline="30000">
              <a:ea typeface="华文行楷" panose="02010800040101010101" pitchFamily="2" charset="-122"/>
            </a:endParaRPr>
          </a:p>
        </p:txBody>
      </p:sp>
      <p:sp>
        <p:nvSpPr>
          <p:cNvPr id="139276" name="Rectangle 12"/>
          <p:cNvSpPr>
            <a:spLocks noChangeArrowheads="1"/>
          </p:cNvSpPr>
          <p:nvPr/>
        </p:nvSpPr>
        <p:spPr bwMode="auto">
          <a:xfrm>
            <a:off x="3332163" y="4543425"/>
            <a:ext cx="762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</a:rPr>
              <a:t>R</a:t>
            </a:r>
            <a:r>
              <a:rPr lang="en-US" altLang="zh-CN" b="1" baseline="30000">
                <a:ea typeface="华文行楷" panose="02010800040101010101" pitchFamily="2" charset="-122"/>
              </a:rPr>
              <a:t>(</a:t>
            </a:r>
            <a:r>
              <a:rPr lang="en-US" altLang="zh-CN" b="1" baseline="-25000">
                <a:ea typeface="华文行楷" panose="02010800040101010101" pitchFamily="2" charset="-122"/>
              </a:rPr>
              <a:t>1</a:t>
            </a:r>
            <a:r>
              <a:rPr lang="en-US" altLang="zh-CN" b="1" baseline="30000">
                <a:ea typeface="华文行楷" panose="02010800040101010101" pitchFamily="2" charset="-122"/>
              </a:rPr>
              <a:t>0</a:t>
            </a:r>
            <a:r>
              <a:rPr lang="en-US" altLang="zh-CN" b="1" baseline="-25000">
                <a:ea typeface="华文行楷" panose="02010800040101010101" pitchFamily="2" charset="-122"/>
              </a:rPr>
              <a:t>2</a:t>
            </a:r>
            <a:r>
              <a:rPr lang="en-US" altLang="zh-CN" b="1" baseline="30000">
                <a:ea typeface="华文行楷" panose="02010800040101010101" pitchFamily="2" charset="-122"/>
              </a:rPr>
              <a:t>)</a:t>
            </a:r>
            <a:endParaRPr lang="en-US" altLang="zh-CN" b="1" baseline="30000">
              <a:ea typeface="华文行楷" panose="02010800040101010101" pitchFamily="2" charset="-122"/>
            </a:endParaRPr>
          </a:p>
        </p:txBody>
      </p:sp>
      <p:sp>
        <p:nvSpPr>
          <p:cNvPr id="139277" name="Rectangle 13"/>
          <p:cNvSpPr>
            <a:spLocks noChangeArrowheads="1"/>
          </p:cNvSpPr>
          <p:nvPr/>
        </p:nvSpPr>
        <p:spPr bwMode="auto">
          <a:xfrm>
            <a:off x="3332163" y="4924425"/>
            <a:ext cx="762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</a:rPr>
              <a:t>R</a:t>
            </a:r>
            <a:r>
              <a:rPr lang="en-US" altLang="zh-CN" b="1" baseline="30000">
                <a:ea typeface="华文行楷" panose="02010800040101010101" pitchFamily="2" charset="-122"/>
              </a:rPr>
              <a:t>(</a:t>
            </a:r>
            <a:r>
              <a:rPr lang="en-US" altLang="zh-CN" b="1" baseline="-25000">
                <a:ea typeface="华文行楷" panose="02010800040101010101" pitchFamily="2" charset="-122"/>
              </a:rPr>
              <a:t>2</a:t>
            </a:r>
            <a:r>
              <a:rPr lang="en-US" altLang="zh-CN" b="1" baseline="30000">
                <a:ea typeface="华文行楷" panose="02010800040101010101" pitchFamily="2" charset="-122"/>
              </a:rPr>
              <a:t>0</a:t>
            </a:r>
            <a:r>
              <a:rPr lang="en-US" altLang="zh-CN" b="1" baseline="-25000">
                <a:ea typeface="华文行楷" panose="02010800040101010101" pitchFamily="2" charset="-122"/>
              </a:rPr>
              <a:t>1</a:t>
            </a:r>
            <a:r>
              <a:rPr lang="en-US" altLang="zh-CN" b="1" baseline="30000">
                <a:ea typeface="华文行楷" panose="02010800040101010101" pitchFamily="2" charset="-122"/>
              </a:rPr>
              <a:t>)</a:t>
            </a:r>
            <a:endParaRPr lang="en-US" altLang="zh-CN" b="1" baseline="30000">
              <a:ea typeface="华文行楷" panose="02010800040101010101" pitchFamily="2" charset="-122"/>
            </a:endParaRPr>
          </a:p>
        </p:txBody>
      </p:sp>
      <p:sp>
        <p:nvSpPr>
          <p:cNvPr id="139278" name="Rectangle 14"/>
          <p:cNvSpPr>
            <a:spLocks noChangeArrowheads="1"/>
          </p:cNvSpPr>
          <p:nvPr/>
        </p:nvSpPr>
        <p:spPr bwMode="auto">
          <a:xfrm>
            <a:off x="3332163" y="5305425"/>
            <a:ext cx="762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华文行楷" panose="02010800040101010101" pitchFamily="2" charset="-122"/>
              </a:rPr>
              <a:t>R</a:t>
            </a:r>
            <a:r>
              <a:rPr lang="en-US" altLang="zh-CN" b="1" baseline="30000" dirty="0">
                <a:ea typeface="华文行楷" panose="02010800040101010101" pitchFamily="2" charset="-122"/>
              </a:rPr>
              <a:t>(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2</a:t>
            </a:r>
            <a:r>
              <a:rPr lang="en-US" altLang="zh-CN" b="1" baseline="30000" dirty="0">
                <a:ea typeface="华文行楷" panose="02010800040101010101" pitchFamily="2" charset="-122"/>
              </a:rPr>
              <a:t>0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2</a:t>
            </a:r>
            <a:r>
              <a:rPr lang="en-US" altLang="zh-CN" b="1" baseline="30000" dirty="0">
                <a:ea typeface="华文行楷" panose="02010800040101010101" pitchFamily="2" charset="-122"/>
              </a:rPr>
              <a:t>)</a:t>
            </a:r>
            <a:endParaRPr lang="en-US" altLang="zh-CN" b="1" baseline="30000" dirty="0">
              <a:ea typeface="华文行楷" panose="02010800040101010101" pitchFamily="2" charset="-122"/>
            </a:endParaRPr>
          </a:p>
        </p:txBody>
      </p:sp>
      <p:sp>
        <p:nvSpPr>
          <p:cNvPr id="139279" name="Rectangle 15"/>
          <p:cNvSpPr>
            <a:spLocks noChangeArrowheads="1"/>
          </p:cNvSpPr>
          <p:nvPr/>
        </p:nvSpPr>
        <p:spPr bwMode="auto">
          <a:xfrm>
            <a:off x="4791075" y="4143375"/>
            <a:ext cx="8540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zh-CN" sz="24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9280" name="Rectangle 16"/>
          <p:cNvSpPr>
            <a:spLocks noChangeArrowheads="1"/>
          </p:cNvSpPr>
          <p:nvPr/>
        </p:nvSpPr>
        <p:spPr bwMode="auto">
          <a:xfrm>
            <a:off x="4562475" y="5286375"/>
            <a:ext cx="13573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zh-CN" sz="24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9281" name="Rectangle 17"/>
          <p:cNvSpPr>
            <a:spLocks noChangeArrowheads="1"/>
          </p:cNvSpPr>
          <p:nvPr/>
        </p:nvSpPr>
        <p:spPr bwMode="auto">
          <a:xfrm>
            <a:off x="5019675" y="4524375"/>
            <a:ext cx="354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zh-CN" sz="24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9282" name="Rectangle 18"/>
          <p:cNvSpPr>
            <a:spLocks noChangeArrowheads="1"/>
          </p:cNvSpPr>
          <p:nvPr/>
        </p:nvSpPr>
        <p:spPr bwMode="auto">
          <a:xfrm>
            <a:off x="4981575" y="4829175"/>
            <a:ext cx="3429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sym typeface="Symbol" panose="05050102010706020507" pitchFamily="18" charset="2"/>
              </a:rPr>
              <a:t>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39283" name="Rectangle 19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21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295" name="Object 7"/>
          <p:cNvGraphicFramePr>
            <a:graphicFrameLocks noChangeAspect="1"/>
          </p:cNvGraphicFramePr>
          <p:nvPr/>
        </p:nvGraphicFramePr>
        <p:xfrm>
          <a:off x="1143000" y="1752600"/>
          <a:ext cx="3754438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10" name="VISIO" r:id="rId1" imgW="3248025" imgH="1171575" progId="Visio.Drawing.11">
                  <p:embed/>
                </p:oleObj>
              </mc:Choice>
              <mc:Fallback>
                <p:oleObj name="VISIO" r:id="rId1" imgW="3248025" imgH="1171575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52600"/>
                        <a:ext cx="3754438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08" name="Rectangle 20"/>
          <p:cNvSpPr>
            <a:spLocks noChangeArrowheads="1"/>
          </p:cNvSpPr>
          <p:nvPr/>
        </p:nvSpPr>
        <p:spPr bwMode="auto">
          <a:xfrm>
            <a:off x="1649413" y="6248400"/>
            <a:ext cx="398938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华文行楷" panose="02010800040101010101" pitchFamily="2" charset="-122"/>
              </a:rPr>
              <a:t>R</a:t>
            </a:r>
            <a:r>
              <a:rPr lang="en-US" altLang="zh-CN" b="1" baseline="30000" dirty="0">
                <a:ea typeface="华文行楷" panose="02010800040101010101" pitchFamily="2" charset="-122"/>
              </a:rPr>
              <a:t>(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i</a:t>
            </a:r>
            <a:r>
              <a:rPr lang="en-US" altLang="zh-CN" b="1" baseline="30000" dirty="0">
                <a:ea typeface="华文行楷" panose="02010800040101010101" pitchFamily="2" charset="-122"/>
              </a:rPr>
              <a:t>1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j</a:t>
            </a:r>
            <a:r>
              <a:rPr lang="en-US" altLang="zh-CN" b="1" baseline="30000" dirty="0">
                <a:ea typeface="华文行楷" panose="02010800040101010101" pitchFamily="2" charset="-122"/>
              </a:rPr>
              <a:t>) </a:t>
            </a:r>
            <a:r>
              <a:rPr lang="en-US" altLang="zh-CN" sz="2400" b="1" dirty="0">
                <a:latin typeface="Arial" panose="020B0604020202020204" pitchFamily="34" charset="0"/>
                <a:ea typeface="华文行楷" panose="02010800040101010101" pitchFamily="2" charset="-122"/>
              </a:rPr>
              <a:t>= R</a:t>
            </a:r>
            <a:r>
              <a:rPr lang="en-US" altLang="zh-CN" b="1" baseline="30000" dirty="0">
                <a:ea typeface="华文行楷" panose="02010800040101010101" pitchFamily="2" charset="-122"/>
              </a:rPr>
              <a:t>(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i</a:t>
            </a:r>
            <a:r>
              <a:rPr lang="en-US" altLang="zh-CN" b="1" baseline="30000" dirty="0">
                <a:ea typeface="华文行楷" panose="02010800040101010101" pitchFamily="2" charset="-122"/>
              </a:rPr>
              <a:t>0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j</a:t>
            </a:r>
            <a:r>
              <a:rPr lang="en-US" altLang="zh-CN" b="1" baseline="30000" dirty="0">
                <a:ea typeface="华文行楷" panose="02010800040101010101" pitchFamily="2" charset="-122"/>
              </a:rPr>
              <a:t>)  </a:t>
            </a:r>
            <a:r>
              <a:rPr lang="en-US" altLang="zh-CN" sz="2400" b="1" i="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 </a:t>
            </a:r>
            <a:r>
              <a:rPr lang="en-US" altLang="zh-CN" sz="2400" b="1" dirty="0">
                <a:latin typeface="Arial" panose="020B0604020202020204" pitchFamily="34" charset="0"/>
                <a:ea typeface="华文行楷" panose="02010800040101010101" pitchFamily="2" charset="-122"/>
              </a:rPr>
              <a:t>R</a:t>
            </a:r>
            <a:r>
              <a:rPr lang="en-US" altLang="zh-CN" b="1" baseline="30000" dirty="0">
                <a:ea typeface="华文行楷" panose="02010800040101010101" pitchFamily="2" charset="-122"/>
              </a:rPr>
              <a:t>(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i</a:t>
            </a:r>
            <a:r>
              <a:rPr lang="en-US" altLang="zh-CN" b="1" baseline="30000" dirty="0">
                <a:ea typeface="华文行楷" panose="02010800040101010101" pitchFamily="2" charset="-122"/>
              </a:rPr>
              <a:t>0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1</a:t>
            </a:r>
            <a:r>
              <a:rPr lang="en-US" altLang="zh-CN" b="1" baseline="30000" dirty="0">
                <a:ea typeface="华文行楷" panose="02010800040101010101" pitchFamily="2" charset="-122"/>
              </a:rPr>
              <a:t>)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latin typeface="Arial" panose="020B0604020202020204" pitchFamily="34" charset="0"/>
                <a:ea typeface="华文行楷" panose="02010800040101010101" pitchFamily="2" charset="-122"/>
              </a:rPr>
              <a:t>R</a:t>
            </a:r>
            <a:r>
              <a:rPr lang="en-US" altLang="zh-CN" b="1" baseline="30000" dirty="0">
                <a:ea typeface="华文行楷" panose="02010800040101010101" pitchFamily="2" charset="-122"/>
              </a:rPr>
              <a:t>(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1</a:t>
            </a:r>
            <a:r>
              <a:rPr lang="en-US" altLang="zh-CN" b="1" baseline="30000" dirty="0">
                <a:ea typeface="华文行楷" panose="02010800040101010101" pitchFamily="2" charset="-122"/>
              </a:rPr>
              <a:t>0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1</a:t>
            </a:r>
            <a:r>
              <a:rPr lang="en-US" altLang="zh-CN" b="1" baseline="30000" dirty="0">
                <a:ea typeface="华文行楷" panose="02010800040101010101" pitchFamily="2" charset="-122"/>
              </a:rPr>
              <a:t>)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)* </a:t>
            </a:r>
            <a:r>
              <a:rPr lang="en-US" altLang="zh-CN" sz="2400" b="1" dirty="0">
                <a:latin typeface="Arial" panose="020B0604020202020204" pitchFamily="34" charset="0"/>
                <a:ea typeface="华文行楷" panose="02010800040101010101" pitchFamily="2" charset="-122"/>
              </a:rPr>
              <a:t>R</a:t>
            </a:r>
            <a:r>
              <a:rPr lang="en-US" altLang="zh-CN" b="1" baseline="30000" dirty="0">
                <a:ea typeface="华文行楷" panose="02010800040101010101" pitchFamily="2" charset="-122"/>
              </a:rPr>
              <a:t>(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1</a:t>
            </a:r>
            <a:r>
              <a:rPr lang="en-US" altLang="zh-CN" b="1" baseline="30000" dirty="0">
                <a:ea typeface="华文行楷" panose="02010800040101010101" pitchFamily="2" charset="-122"/>
              </a:rPr>
              <a:t>0</a:t>
            </a:r>
            <a:r>
              <a:rPr lang="en-US" altLang="zh-CN" b="1" baseline="-25000" dirty="0">
                <a:ea typeface="华文行楷" panose="02010800040101010101" pitchFamily="2" charset="-122"/>
              </a:rPr>
              <a:t>j</a:t>
            </a:r>
            <a:r>
              <a:rPr lang="en-US" altLang="zh-CN" b="1" baseline="30000" dirty="0">
                <a:ea typeface="华文行楷" panose="02010800040101010101" pitchFamily="2" charset="-122"/>
              </a:rPr>
              <a:t>)</a:t>
            </a:r>
            <a:endParaRPr lang="en-US" altLang="zh-CN" b="1" baseline="30000" dirty="0">
              <a:ea typeface="华文行楷" panose="02010800040101010101" pitchFamily="2" charset="-122"/>
            </a:endParaRPr>
          </a:p>
        </p:txBody>
      </p:sp>
      <p:grpSp>
        <p:nvGrpSpPr>
          <p:cNvPr id="140332" name="Group 44"/>
          <p:cNvGrpSpPr/>
          <p:nvPr/>
        </p:nvGrpSpPr>
        <p:grpSpPr bwMode="auto">
          <a:xfrm>
            <a:off x="1066800" y="3657600"/>
            <a:ext cx="5715000" cy="2305050"/>
            <a:chOff x="672" y="2304"/>
            <a:chExt cx="3600" cy="1452"/>
          </a:xfrm>
        </p:grpSpPr>
        <p:sp>
          <p:nvSpPr>
            <p:cNvPr id="140299" name="Line 11"/>
            <p:cNvSpPr>
              <a:spLocks noChangeShapeType="1"/>
            </p:cNvSpPr>
            <p:nvPr/>
          </p:nvSpPr>
          <p:spPr bwMode="auto">
            <a:xfrm>
              <a:off x="1152" y="2694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01" name="Line 13"/>
            <p:cNvSpPr>
              <a:spLocks noChangeShapeType="1"/>
            </p:cNvSpPr>
            <p:nvPr/>
          </p:nvSpPr>
          <p:spPr bwMode="auto">
            <a:xfrm>
              <a:off x="3408" y="2694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296" name="Line 8"/>
            <p:cNvSpPr>
              <a:spLocks noChangeShapeType="1"/>
            </p:cNvSpPr>
            <p:nvPr/>
          </p:nvSpPr>
          <p:spPr bwMode="auto">
            <a:xfrm>
              <a:off x="672" y="264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297" name="Line 9"/>
            <p:cNvSpPr>
              <a:spLocks noChangeShapeType="1"/>
            </p:cNvSpPr>
            <p:nvPr/>
          </p:nvSpPr>
          <p:spPr bwMode="auto">
            <a:xfrm>
              <a:off x="672" y="269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298" name="Line 10"/>
            <p:cNvSpPr>
              <a:spLocks noChangeShapeType="1"/>
            </p:cNvSpPr>
            <p:nvPr/>
          </p:nvSpPr>
          <p:spPr bwMode="auto">
            <a:xfrm>
              <a:off x="1152" y="2310"/>
              <a:ext cx="0" cy="336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00" name="Line 12"/>
            <p:cNvSpPr>
              <a:spLocks noChangeShapeType="1"/>
            </p:cNvSpPr>
            <p:nvPr/>
          </p:nvSpPr>
          <p:spPr bwMode="auto">
            <a:xfrm>
              <a:off x="3408" y="2310"/>
              <a:ext cx="0" cy="336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02" name="Text Box 14"/>
            <p:cNvSpPr txBox="1">
              <a:spLocks noChangeArrowheads="1"/>
            </p:cNvSpPr>
            <p:nvPr/>
          </p:nvSpPr>
          <p:spPr bwMode="auto">
            <a:xfrm>
              <a:off x="3600" y="2304"/>
              <a:ext cx="528" cy="29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400" b="1" i="0">
                  <a:latin typeface="楷体_GB2312" pitchFamily="49" charset="-122"/>
                  <a:ea typeface="楷体_GB2312" pitchFamily="49" charset="-122"/>
                </a:rPr>
                <a:t>化简</a:t>
              </a:r>
              <a:endParaRPr lang="zh-CN" altLang="en-US" sz="2400" b="1" i="0" baseline="-25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0303" name="Rectangle 15"/>
            <p:cNvSpPr>
              <a:spLocks noChangeArrowheads="1"/>
            </p:cNvSpPr>
            <p:nvPr/>
          </p:nvSpPr>
          <p:spPr bwMode="auto">
            <a:xfrm>
              <a:off x="672" y="2700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0304" name="Rectangle 16"/>
            <p:cNvSpPr>
              <a:spLocks noChangeArrowheads="1"/>
            </p:cNvSpPr>
            <p:nvPr/>
          </p:nvSpPr>
          <p:spPr bwMode="auto">
            <a:xfrm>
              <a:off x="672" y="2940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0305" name="Rectangle 17"/>
            <p:cNvSpPr>
              <a:spLocks noChangeArrowheads="1"/>
            </p:cNvSpPr>
            <p:nvPr/>
          </p:nvSpPr>
          <p:spPr bwMode="auto">
            <a:xfrm>
              <a:off x="672" y="3180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0306" name="Rectangle 18"/>
            <p:cNvSpPr>
              <a:spLocks noChangeArrowheads="1"/>
            </p:cNvSpPr>
            <p:nvPr/>
          </p:nvSpPr>
          <p:spPr bwMode="auto">
            <a:xfrm>
              <a:off x="672" y="3420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0307" name="Text Box 19"/>
            <p:cNvSpPr txBox="1">
              <a:spLocks noChangeArrowheads="1"/>
            </p:cNvSpPr>
            <p:nvPr/>
          </p:nvSpPr>
          <p:spPr bwMode="auto">
            <a:xfrm>
              <a:off x="1728" y="2316"/>
              <a:ext cx="912" cy="29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400" b="1" i="0">
                  <a:latin typeface="楷体_GB2312" pitchFamily="49" charset="-122"/>
                  <a:ea typeface="楷体_GB2312" pitchFamily="49" charset="-122"/>
                </a:rPr>
                <a:t>直接替换</a:t>
              </a:r>
              <a:endParaRPr lang="zh-CN" altLang="en-US" sz="2400" b="1" i="0" baseline="-25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0309" name="Rectangle 21"/>
            <p:cNvSpPr>
              <a:spLocks noChangeArrowheads="1"/>
            </p:cNvSpPr>
            <p:nvPr/>
          </p:nvSpPr>
          <p:spPr bwMode="auto">
            <a:xfrm>
              <a:off x="1190" y="2688"/>
              <a:ext cx="211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r>
                <a:rPr lang="en-US" altLang="zh-CN" sz="2400" b="1" baseline="-25000"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r>
                <a:rPr lang="en-US" altLang="zh-CN" sz="2400" b="1" baseline="-25000"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)(</a:t>
              </a:r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r>
                <a:rPr lang="en-US" altLang="zh-CN" sz="2400" b="1" baseline="-25000"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)*(</a:t>
              </a:r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r>
                <a:rPr lang="en-US" altLang="zh-CN" sz="2400" b="1" baseline="-25000"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 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)</a:t>
              </a:r>
              <a:endPara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" name="Rectangle 22"/>
          <p:cNvSpPr>
            <a:spLocks noChangeArrowheads="1"/>
          </p:cNvSpPr>
          <p:nvPr/>
        </p:nvSpPr>
        <p:spPr bwMode="auto">
          <a:xfrm>
            <a:off x="1905000" y="4648200"/>
            <a:ext cx="22701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)*0</a:t>
            </a:r>
            <a:endParaRPr lang="en-US" altLang="zh-CN" sz="2400" b="1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0311" name="Rectangle 23"/>
          <p:cNvSpPr>
            <a:spLocks noChangeArrowheads="1"/>
          </p:cNvSpPr>
          <p:nvPr/>
        </p:nvSpPr>
        <p:spPr bwMode="auto">
          <a:xfrm>
            <a:off x="1905000" y="5029200"/>
            <a:ext cx="24161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sym typeface="Symbol" panose="05050102010706020507" pitchFamily="18" charset="2"/>
              </a:rPr>
              <a:t>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sym typeface="Symbol" panose="05050102010706020507" pitchFamily="18" charset="2"/>
              </a:rPr>
              <a:t>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)*(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altLang="zh-CN" sz="2400" b="1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0312" name="Rectangle 24"/>
          <p:cNvSpPr>
            <a:spLocks noChangeArrowheads="1"/>
          </p:cNvSpPr>
          <p:nvPr/>
        </p:nvSpPr>
        <p:spPr bwMode="auto">
          <a:xfrm>
            <a:off x="1905000" y="5410200"/>
            <a:ext cx="24765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sym typeface="Symbol" panose="05050102010706020507" pitchFamily="18" charset="2"/>
              </a:rPr>
              <a:t>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)*0</a:t>
            </a:r>
            <a:endParaRPr lang="en-US" altLang="zh-CN" sz="2400" b="1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0313" name="Rectangle 25"/>
          <p:cNvSpPr>
            <a:spLocks noChangeArrowheads="1"/>
          </p:cNvSpPr>
          <p:nvPr/>
        </p:nvSpPr>
        <p:spPr bwMode="auto">
          <a:xfrm>
            <a:off x="5826125" y="4267200"/>
            <a:ext cx="4730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endParaRPr lang="en-US" altLang="zh-CN" sz="2400" b="1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0314" name="Rectangle 26"/>
          <p:cNvSpPr>
            <a:spLocks noChangeArrowheads="1"/>
          </p:cNvSpPr>
          <p:nvPr/>
        </p:nvSpPr>
        <p:spPr bwMode="auto">
          <a:xfrm>
            <a:off x="5808663" y="4724400"/>
            <a:ext cx="6429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*0</a:t>
            </a:r>
            <a:endParaRPr lang="en-US" altLang="zh-CN" sz="2400" b="1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0315" name="Rectangle 27"/>
          <p:cNvSpPr>
            <a:spLocks noChangeArrowheads="1"/>
          </p:cNvSpPr>
          <p:nvPr/>
        </p:nvSpPr>
        <p:spPr bwMode="auto">
          <a:xfrm>
            <a:off x="5829300" y="5029200"/>
            <a:ext cx="3429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sym typeface="Symbol" panose="05050102010706020507" pitchFamily="18" charset="2"/>
              </a:rPr>
              <a:t>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40316" name="Rectangle 28"/>
          <p:cNvSpPr>
            <a:spLocks noChangeArrowheads="1"/>
          </p:cNvSpPr>
          <p:nvPr/>
        </p:nvSpPr>
        <p:spPr bwMode="auto">
          <a:xfrm>
            <a:off x="5570538" y="5410200"/>
            <a:ext cx="113188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zh-CN" sz="24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40328" name="Group 40"/>
          <p:cNvGrpSpPr/>
          <p:nvPr/>
        </p:nvGrpSpPr>
        <p:grpSpPr bwMode="auto">
          <a:xfrm>
            <a:off x="5638800" y="1828800"/>
            <a:ext cx="3048000" cy="1762125"/>
            <a:chOff x="3552" y="1098"/>
            <a:chExt cx="1920" cy="1110"/>
          </a:xfrm>
        </p:grpSpPr>
        <p:sp>
          <p:nvSpPr>
            <p:cNvPr id="140317" name="Line 29"/>
            <p:cNvSpPr>
              <a:spLocks noChangeShapeType="1"/>
            </p:cNvSpPr>
            <p:nvPr/>
          </p:nvSpPr>
          <p:spPr bwMode="auto">
            <a:xfrm>
              <a:off x="3552" y="1098"/>
              <a:ext cx="1920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18" name="Line 30"/>
            <p:cNvSpPr>
              <a:spLocks noChangeShapeType="1"/>
            </p:cNvSpPr>
            <p:nvPr/>
          </p:nvSpPr>
          <p:spPr bwMode="auto">
            <a:xfrm>
              <a:off x="3552" y="1146"/>
              <a:ext cx="1920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19" name="Line 31"/>
            <p:cNvSpPr>
              <a:spLocks noChangeShapeType="1"/>
            </p:cNvSpPr>
            <p:nvPr/>
          </p:nvSpPr>
          <p:spPr bwMode="auto">
            <a:xfrm>
              <a:off x="4224" y="1146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0320" name="Rectangle 32"/>
            <p:cNvSpPr>
              <a:spLocks noChangeArrowheads="1"/>
            </p:cNvSpPr>
            <p:nvPr/>
          </p:nvSpPr>
          <p:spPr bwMode="auto">
            <a:xfrm>
              <a:off x="3648" y="1152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0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0321" name="Rectangle 33"/>
            <p:cNvSpPr>
              <a:spLocks noChangeArrowheads="1"/>
            </p:cNvSpPr>
            <p:nvPr/>
          </p:nvSpPr>
          <p:spPr bwMode="auto">
            <a:xfrm>
              <a:off x="3648" y="1392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0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0322" name="Rectangle 34"/>
            <p:cNvSpPr>
              <a:spLocks noChangeArrowheads="1"/>
            </p:cNvSpPr>
            <p:nvPr/>
          </p:nvSpPr>
          <p:spPr bwMode="auto">
            <a:xfrm>
              <a:off x="3648" y="1632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0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0323" name="Rectangle 35"/>
            <p:cNvSpPr>
              <a:spLocks noChangeArrowheads="1"/>
            </p:cNvSpPr>
            <p:nvPr/>
          </p:nvSpPr>
          <p:spPr bwMode="auto">
            <a:xfrm>
              <a:off x="3648" y="1872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0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0324" name="Rectangle 36"/>
            <p:cNvSpPr>
              <a:spLocks noChangeArrowheads="1"/>
            </p:cNvSpPr>
            <p:nvPr/>
          </p:nvSpPr>
          <p:spPr bwMode="auto">
            <a:xfrm>
              <a:off x="4567" y="1140"/>
              <a:ext cx="53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r>
                <a:rPr lang="en-US" altLang="zh-CN" sz="2400" b="1" baseline="-25000">
                  <a:latin typeface="Arial" panose="020B0604020202020204" pitchFamily="34" charset="0"/>
                  <a:sym typeface="Symbol" panose="05050102010706020507" pitchFamily="18" charset="2"/>
                </a:rPr>
                <a:t> 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endParaRPr lang="en-US" altLang="zh-CN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40325" name="Rectangle 37"/>
            <p:cNvSpPr>
              <a:spLocks noChangeArrowheads="1"/>
            </p:cNvSpPr>
            <p:nvPr/>
          </p:nvSpPr>
          <p:spPr bwMode="auto">
            <a:xfrm>
              <a:off x="4423" y="1860"/>
              <a:ext cx="85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r>
                <a:rPr lang="en-US" altLang="zh-CN" sz="2400" b="1" baseline="-25000">
                  <a:latin typeface="Arial" panose="020B0604020202020204" pitchFamily="34" charset="0"/>
                  <a:sym typeface="Symbol" panose="05050102010706020507" pitchFamily="18" charset="2"/>
                </a:rPr>
                <a:t> 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0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endParaRPr lang="en-US" altLang="zh-CN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40326" name="Rectangle 38"/>
            <p:cNvSpPr>
              <a:spLocks noChangeArrowheads="1"/>
            </p:cNvSpPr>
            <p:nvPr/>
          </p:nvSpPr>
          <p:spPr bwMode="auto">
            <a:xfrm>
              <a:off x="4711" y="1380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endParaRPr lang="en-US" altLang="zh-CN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40327" name="Rectangle 39"/>
            <p:cNvSpPr>
              <a:spLocks noChangeArrowheads="1"/>
            </p:cNvSpPr>
            <p:nvPr/>
          </p:nvSpPr>
          <p:spPr bwMode="auto">
            <a:xfrm>
              <a:off x="4687" y="1572"/>
              <a:ext cx="21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ym typeface="Symbol" panose="05050102010706020507" pitchFamily="18" charset="2"/>
                </a:rPr>
                <a:t>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</p:grpSp>
      <p:sp>
        <p:nvSpPr>
          <p:cNvPr id="140333" name="Rectangle 45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0334" name="Rectangle 46"/>
          <p:cNvSpPr>
            <a:spLocks noChangeArrowheads="1"/>
          </p:cNvSpPr>
          <p:nvPr/>
        </p:nvSpPr>
        <p:spPr bwMode="auto">
          <a:xfrm>
            <a:off x="611188" y="1125538"/>
            <a:ext cx="511492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楷体_GB2312" pitchFamily="49" charset="-122"/>
                <a:ea typeface="楷体_GB2312" pitchFamily="49" charset="-122"/>
              </a:rPr>
              <a:t>路径迭代法举例</a:t>
            </a:r>
            <a:endParaRPr lang="zh-CN" altLang="en-US" sz="3200" b="1" i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22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4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4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4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4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4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4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08" grpId="0" autoUpdateAnimBg="0"/>
      <p:bldP spid="140311" grpId="0" autoUpdateAnimBg="0"/>
      <p:bldP spid="140312" grpId="0" autoUpdateAnimBg="0"/>
      <p:bldP spid="140313" grpId="0" autoUpdateAnimBg="0"/>
      <p:bldP spid="140314" grpId="0" autoUpdateAnimBg="0"/>
      <p:bldP spid="140315" grpId="0" autoUpdateAnimBg="0"/>
      <p:bldP spid="14031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319" name="Object 7"/>
          <p:cNvGraphicFramePr>
            <a:graphicFrameLocks noChangeAspect="1"/>
          </p:cNvGraphicFramePr>
          <p:nvPr/>
        </p:nvGraphicFramePr>
        <p:xfrm>
          <a:off x="1066800" y="1924050"/>
          <a:ext cx="3754438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34" name="VISIO" r:id="rId1" imgW="3248025" imgH="1171575" progId="Visio.Drawing.11">
                  <p:embed/>
                </p:oleObj>
              </mc:Choice>
              <mc:Fallback>
                <p:oleObj name="VISIO" r:id="rId1" imgW="3248025" imgH="1171575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24050"/>
                        <a:ext cx="3754438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1356" name="Group 44"/>
          <p:cNvGrpSpPr/>
          <p:nvPr/>
        </p:nvGrpSpPr>
        <p:grpSpPr bwMode="auto">
          <a:xfrm>
            <a:off x="914400" y="3790950"/>
            <a:ext cx="7315201" cy="2914650"/>
            <a:chOff x="576" y="2388"/>
            <a:chExt cx="4608" cy="1836"/>
          </a:xfrm>
        </p:grpSpPr>
        <p:sp>
          <p:nvSpPr>
            <p:cNvPr id="141320" name="Line 8"/>
            <p:cNvSpPr>
              <a:spLocks noChangeShapeType="1"/>
            </p:cNvSpPr>
            <p:nvPr/>
          </p:nvSpPr>
          <p:spPr bwMode="auto">
            <a:xfrm>
              <a:off x="576" y="2730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1" name="Line 9"/>
            <p:cNvSpPr>
              <a:spLocks noChangeShapeType="1"/>
            </p:cNvSpPr>
            <p:nvPr/>
          </p:nvSpPr>
          <p:spPr bwMode="auto">
            <a:xfrm>
              <a:off x="576" y="277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2" name="Line 10"/>
            <p:cNvSpPr>
              <a:spLocks noChangeShapeType="1"/>
            </p:cNvSpPr>
            <p:nvPr/>
          </p:nvSpPr>
          <p:spPr bwMode="auto">
            <a:xfrm>
              <a:off x="1104" y="2394"/>
              <a:ext cx="0" cy="336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3" name="Line 11"/>
            <p:cNvSpPr>
              <a:spLocks noChangeShapeType="1"/>
            </p:cNvSpPr>
            <p:nvPr/>
          </p:nvSpPr>
          <p:spPr bwMode="auto">
            <a:xfrm>
              <a:off x="1104" y="2784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4" name="Line 12"/>
            <p:cNvSpPr>
              <a:spLocks noChangeShapeType="1"/>
            </p:cNvSpPr>
            <p:nvPr/>
          </p:nvSpPr>
          <p:spPr bwMode="auto">
            <a:xfrm>
              <a:off x="4176" y="2394"/>
              <a:ext cx="0" cy="336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5" name="Line 13"/>
            <p:cNvSpPr>
              <a:spLocks noChangeShapeType="1"/>
            </p:cNvSpPr>
            <p:nvPr/>
          </p:nvSpPr>
          <p:spPr bwMode="auto">
            <a:xfrm>
              <a:off x="4176" y="2778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26" name="Text Box 14"/>
            <p:cNvSpPr txBox="1">
              <a:spLocks noChangeArrowheads="1"/>
            </p:cNvSpPr>
            <p:nvPr/>
          </p:nvSpPr>
          <p:spPr bwMode="auto">
            <a:xfrm>
              <a:off x="4368" y="2388"/>
              <a:ext cx="528" cy="29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400" b="1" i="0">
                  <a:latin typeface="楷体_GB2312" pitchFamily="49" charset="-122"/>
                  <a:ea typeface="楷体_GB2312" pitchFamily="49" charset="-122"/>
                </a:rPr>
                <a:t>化简</a:t>
              </a:r>
              <a:endParaRPr lang="zh-CN" altLang="en-US" sz="2400" b="1" i="0" baseline="-25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1327" name="Rectangle 15"/>
            <p:cNvSpPr>
              <a:spLocks noChangeArrowheads="1"/>
            </p:cNvSpPr>
            <p:nvPr/>
          </p:nvSpPr>
          <p:spPr bwMode="auto">
            <a:xfrm>
              <a:off x="624" y="2790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 dirty="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 dirty="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 dirty="0">
                  <a:ea typeface="华文行楷" panose="02010800040101010101" pitchFamily="2" charset="-122"/>
                </a:rPr>
                <a:t>2</a:t>
              </a:r>
              <a:r>
                <a:rPr lang="en-US" altLang="zh-CN" b="1" baseline="-25000" dirty="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 dirty="0">
                  <a:ea typeface="华文行楷" panose="02010800040101010101" pitchFamily="2" charset="-122"/>
                </a:rPr>
                <a:t>)</a:t>
              </a:r>
              <a:endParaRPr lang="en-US" altLang="zh-CN" b="1" baseline="30000" dirty="0">
                <a:ea typeface="华文行楷" panose="02010800040101010101" pitchFamily="2" charset="-122"/>
              </a:endParaRPr>
            </a:p>
          </p:txBody>
        </p:sp>
        <p:sp>
          <p:nvSpPr>
            <p:cNvPr id="141328" name="Rectangle 16"/>
            <p:cNvSpPr>
              <a:spLocks noChangeArrowheads="1"/>
            </p:cNvSpPr>
            <p:nvPr/>
          </p:nvSpPr>
          <p:spPr bwMode="auto">
            <a:xfrm>
              <a:off x="624" y="3024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1329" name="Rectangle 17"/>
            <p:cNvSpPr>
              <a:spLocks noChangeArrowheads="1"/>
            </p:cNvSpPr>
            <p:nvPr/>
          </p:nvSpPr>
          <p:spPr bwMode="auto">
            <a:xfrm>
              <a:off x="624" y="3264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1330" name="Rectangle 18"/>
            <p:cNvSpPr>
              <a:spLocks noChangeArrowheads="1"/>
            </p:cNvSpPr>
            <p:nvPr/>
          </p:nvSpPr>
          <p:spPr bwMode="auto">
            <a:xfrm>
              <a:off x="624" y="3504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1331" name="Text Box 19"/>
            <p:cNvSpPr txBox="1">
              <a:spLocks noChangeArrowheads="1"/>
            </p:cNvSpPr>
            <p:nvPr/>
          </p:nvSpPr>
          <p:spPr bwMode="auto">
            <a:xfrm>
              <a:off x="2016" y="2400"/>
              <a:ext cx="912" cy="29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400" b="1" i="0">
                  <a:latin typeface="楷体_GB2312" pitchFamily="49" charset="-122"/>
                  <a:ea typeface="楷体_GB2312" pitchFamily="49" charset="-122"/>
                </a:rPr>
                <a:t>直接替换</a:t>
              </a:r>
              <a:endParaRPr lang="zh-CN" altLang="en-US" sz="2400" b="1" i="0" baseline="-25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1332" name="Rectangle 20"/>
            <p:cNvSpPr>
              <a:spLocks noChangeArrowheads="1"/>
            </p:cNvSpPr>
            <p:nvPr/>
          </p:nvSpPr>
          <p:spPr bwMode="auto">
            <a:xfrm>
              <a:off x="1344" y="3936"/>
              <a:ext cx="251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i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j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 </a:t>
              </a:r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= 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i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j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 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 </a:t>
              </a:r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i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 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 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)* </a:t>
              </a:r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j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</p:grpSp>
      <p:sp>
        <p:nvSpPr>
          <p:cNvPr id="141333" name="Rectangle 21"/>
          <p:cNvSpPr>
            <a:spLocks noChangeArrowheads="1"/>
          </p:cNvSpPr>
          <p:nvPr/>
        </p:nvSpPr>
        <p:spPr bwMode="auto">
          <a:xfrm>
            <a:off x="1773238" y="4400550"/>
            <a:ext cx="26114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1*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*0(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)* </a:t>
            </a:r>
            <a:r>
              <a:rPr lang="en-US" altLang="zh-CN" sz="2400" b="1">
                <a:sym typeface="Symbol" panose="05050102010706020507" pitchFamily="18" charset="2"/>
              </a:rPr>
              <a:t>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2" name="Rectangle 22"/>
          <p:cNvSpPr>
            <a:spLocks noChangeArrowheads="1"/>
          </p:cNvSpPr>
          <p:nvPr/>
        </p:nvSpPr>
        <p:spPr bwMode="auto">
          <a:xfrm>
            <a:off x="1789113" y="4781550"/>
            <a:ext cx="3689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*0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*0(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)*(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altLang="zh-CN" sz="2400" b="1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1335" name="Rectangle 23"/>
          <p:cNvSpPr>
            <a:spLocks noChangeArrowheads="1"/>
          </p:cNvSpPr>
          <p:nvPr/>
        </p:nvSpPr>
        <p:spPr bwMode="auto">
          <a:xfrm>
            <a:off x="1789113" y="5162550"/>
            <a:ext cx="32575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sym typeface="Symbol" panose="05050102010706020507" pitchFamily="18" charset="2"/>
              </a:rPr>
              <a:t>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1)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)* </a:t>
            </a:r>
            <a:r>
              <a:rPr lang="en-US" altLang="zh-CN" sz="2400" b="1">
                <a:sym typeface="Symbol" panose="05050102010706020507" pitchFamily="18" charset="2"/>
              </a:rPr>
              <a:t>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41336" name="Rectangle 24"/>
          <p:cNvSpPr>
            <a:spLocks noChangeArrowheads="1"/>
          </p:cNvSpPr>
          <p:nvPr/>
        </p:nvSpPr>
        <p:spPr bwMode="auto">
          <a:xfrm>
            <a:off x="1789113" y="5543550"/>
            <a:ext cx="48704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)*(</a:t>
            </a:r>
            <a:r>
              <a:rPr lang="en-US" altLang="zh-CN" sz="2400" b="1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zh-CN" sz="2400" b="1" i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altLang="zh-CN" sz="2400" b="1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41357" name="Group 45"/>
          <p:cNvGrpSpPr/>
          <p:nvPr/>
        </p:nvGrpSpPr>
        <p:grpSpPr bwMode="auto">
          <a:xfrm>
            <a:off x="6629400" y="4400550"/>
            <a:ext cx="1641475" cy="1600200"/>
            <a:chOff x="4176" y="2772"/>
            <a:chExt cx="1034" cy="1008"/>
          </a:xfrm>
        </p:grpSpPr>
        <p:sp>
          <p:nvSpPr>
            <p:cNvPr id="141337" name="Rectangle 25"/>
            <p:cNvSpPr>
              <a:spLocks noChangeArrowheads="1"/>
            </p:cNvSpPr>
            <p:nvPr/>
          </p:nvSpPr>
          <p:spPr bwMode="auto">
            <a:xfrm>
              <a:off x="4438" y="2772"/>
              <a:ext cx="29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*</a:t>
              </a:r>
              <a:endPara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41338" name="Rectangle 26"/>
            <p:cNvSpPr>
              <a:spLocks noChangeArrowheads="1"/>
            </p:cNvSpPr>
            <p:nvPr/>
          </p:nvSpPr>
          <p:spPr bwMode="auto">
            <a:xfrm>
              <a:off x="4176" y="3012"/>
              <a:ext cx="103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*0(0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 1)*</a:t>
              </a:r>
              <a:endPara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41339" name="Rectangle 27"/>
            <p:cNvSpPr>
              <a:spLocks noChangeArrowheads="1"/>
            </p:cNvSpPr>
            <p:nvPr/>
          </p:nvSpPr>
          <p:spPr bwMode="auto">
            <a:xfrm>
              <a:off x="4440" y="3252"/>
              <a:ext cx="21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ym typeface="Symbol" panose="05050102010706020507" pitchFamily="18" charset="2"/>
                </a:rPr>
                <a:t>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  <p:sp>
          <p:nvSpPr>
            <p:cNvPr id="141340" name="Rectangle 28"/>
            <p:cNvSpPr>
              <a:spLocks noChangeArrowheads="1"/>
            </p:cNvSpPr>
            <p:nvPr/>
          </p:nvSpPr>
          <p:spPr bwMode="auto">
            <a:xfrm>
              <a:off x="4252" y="3492"/>
              <a:ext cx="692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0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1)*</a:t>
              </a:r>
              <a:endParaRPr lang="en-US" altLang="zh-CN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41355" name="Group 43"/>
          <p:cNvGrpSpPr/>
          <p:nvPr/>
        </p:nvGrpSpPr>
        <p:grpSpPr bwMode="auto">
          <a:xfrm>
            <a:off x="5638800" y="1828800"/>
            <a:ext cx="3048000" cy="1762125"/>
            <a:chOff x="3552" y="1152"/>
            <a:chExt cx="1920" cy="1110"/>
          </a:xfrm>
        </p:grpSpPr>
        <p:sp>
          <p:nvSpPr>
            <p:cNvPr id="141342" name="Line 30"/>
            <p:cNvSpPr>
              <a:spLocks noChangeShapeType="1"/>
            </p:cNvSpPr>
            <p:nvPr/>
          </p:nvSpPr>
          <p:spPr bwMode="auto">
            <a:xfrm>
              <a:off x="3552" y="1152"/>
              <a:ext cx="1920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43" name="Line 31"/>
            <p:cNvSpPr>
              <a:spLocks noChangeShapeType="1"/>
            </p:cNvSpPr>
            <p:nvPr/>
          </p:nvSpPr>
          <p:spPr bwMode="auto">
            <a:xfrm>
              <a:off x="3552" y="1200"/>
              <a:ext cx="1920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44" name="Line 32"/>
            <p:cNvSpPr>
              <a:spLocks noChangeShapeType="1"/>
            </p:cNvSpPr>
            <p:nvPr/>
          </p:nvSpPr>
          <p:spPr bwMode="auto">
            <a:xfrm>
              <a:off x="4224" y="1200"/>
              <a:ext cx="0" cy="1062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miter lim="800000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345" name="Rectangle 33"/>
            <p:cNvSpPr>
              <a:spLocks noChangeArrowheads="1"/>
            </p:cNvSpPr>
            <p:nvPr/>
          </p:nvSpPr>
          <p:spPr bwMode="auto">
            <a:xfrm>
              <a:off x="3648" y="1206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1346" name="Rectangle 34"/>
            <p:cNvSpPr>
              <a:spLocks noChangeArrowheads="1"/>
            </p:cNvSpPr>
            <p:nvPr/>
          </p:nvSpPr>
          <p:spPr bwMode="auto">
            <a:xfrm>
              <a:off x="3648" y="1446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1347" name="Rectangle 35"/>
            <p:cNvSpPr>
              <a:spLocks noChangeArrowheads="1"/>
            </p:cNvSpPr>
            <p:nvPr/>
          </p:nvSpPr>
          <p:spPr bwMode="auto">
            <a:xfrm>
              <a:off x="3648" y="1686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1348" name="Rectangle 36"/>
            <p:cNvSpPr>
              <a:spLocks noChangeArrowheads="1"/>
            </p:cNvSpPr>
            <p:nvPr/>
          </p:nvSpPr>
          <p:spPr bwMode="auto">
            <a:xfrm>
              <a:off x="3648" y="1926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</a:rPr>
                <a:t>R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(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1</a:t>
              </a:r>
              <a:r>
                <a:rPr lang="en-US" altLang="zh-CN" b="1" baseline="-25000">
                  <a:ea typeface="华文行楷" panose="02010800040101010101" pitchFamily="2" charset="-122"/>
                </a:rPr>
                <a:t>2</a:t>
              </a:r>
              <a:r>
                <a:rPr lang="en-US" altLang="zh-CN" b="1" baseline="30000">
                  <a:ea typeface="华文行楷" panose="02010800040101010101" pitchFamily="2" charset="-122"/>
                </a:rPr>
                <a:t>)</a:t>
              </a:r>
              <a:endParaRPr lang="en-US" altLang="zh-CN" b="1" baseline="30000">
                <a:ea typeface="华文行楷" panose="02010800040101010101" pitchFamily="2" charset="-122"/>
              </a:endParaRPr>
            </a:p>
          </p:txBody>
        </p:sp>
        <p:sp>
          <p:nvSpPr>
            <p:cNvPr id="141350" name="Rectangle 38"/>
            <p:cNvSpPr>
              <a:spLocks noChangeArrowheads="1"/>
            </p:cNvSpPr>
            <p:nvPr/>
          </p:nvSpPr>
          <p:spPr bwMode="auto">
            <a:xfrm>
              <a:off x="4423" y="1914"/>
              <a:ext cx="85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r>
                <a:rPr lang="en-US" altLang="zh-CN" sz="2400" b="1" baseline="-25000">
                  <a:latin typeface="Arial" panose="020B0604020202020204" pitchFamily="34" charset="0"/>
                  <a:sym typeface="Symbol" panose="05050102010706020507" pitchFamily="18" charset="2"/>
                </a:rPr>
                <a:t> 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0 </a:t>
              </a:r>
              <a:r>
                <a:rPr lang="en-US" altLang="zh-CN" sz="2400" b="1" i="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 </a:t>
              </a:r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endParaRPr lang="en-US" altLang="zh-CN" sz="24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41352" name="Rectangle 40"/>
            <p:cNvSpPr>
              <a:spLocks noChangeArrowheads="1"/>
            </p:cNvSpPr>
            <p:nvPr/>
          </p:nvSpPr>
          <p:spPr bwMode="auto">
            <a:xfrm>
              <a:off x="4687" y="1626"/>
              <a:ext cx="21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ym typeface="Symbol" panose="05050102010706020507" pitchFamily="18" charset="2"/>
                </a:rPr>
                <a:t></a:t>
              </a:r>
              <a:endParaRPr lang="en-US" altLang="zh-CN" sz="2400" b="1">
                <a:sym typeface="Symbol" panose="05050102010706020507" pitchFamily="18" charset="2"/>
              </a:endParaRPr>
            </a:p>
          </p:txBody>
        </p:sp>
        <p:sp>
          <p:nvSpPr>
            <p:cNvPr id="141353" name="Rectangle 41"/>
            <p:cNvSpPr>
              <a:spLocks noChangeArrowheads="1"/>
            </p:cNvSpPr>
            <p:nvPr/>
          </p:nvSpPr>
          <p:spPr bwMode="auto">
            <a:xfrm>
              <a:off x="4694" y="1200"/>
              <a:ext cx="29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*</a:t>
              </a:r>
              <a:endPara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41354" name="Rectangle 42"/>
            <p:cNvSpPr>
              <a:spLocks noChangeArrowheads="1"/>
            </p:cNvSpPr>
            <p:nvPr/>
          </p:nvSpPr>
          <p:spPr bwMode="auto">
            <a:xfrm>
              <a:off x="4635" y="1440"/>
              <a:ext cx="40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*0</a:t>
              </a:r>
              <a:endParaRPr lang="en-US" altLang="zh-CN" sz="24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41358" name="Rectangle 46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1359" name="Rectangle 47"/>
          <p:cNvSpPr>
            <a:spLocks noChangeArrowheads="1"/>
          </p:cNvSpPr>
          <p:nvPr/>
        </p:nvSpPr>
        <p:spPr bwMode="auto">
          <a:xfrm>
            <a:off x="611188" y="1125538"/>
            <a:ext cx="511492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楷体_GB2312" pitchFamily="49" charset="-122"/>
                <a:ea typeface="楷体_GB2312" pitchFamily="49" charset="-122"/>
              </a:rPr>
              <a:t>路径迭代法举例</a:t>
            </a:r>
            <a:endParaRPr lang="zh-CN" altLang="en-US" sz="3200" b="1" i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23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4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4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4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33" grpId="0" autoUpdateAnimBg="0"/>
      <p:bldP spid="141335" grpId="0" autoUpdateAnimBg="0"/>
      <p:bldP spid="14133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43" name="Object 7"/>
          <p:cNvGraphicFramePr>
            <a:graphicFrameLocks noChangeAspect="1"/>
          </p:cNvGraphicFramePr>
          <p:nvPr/>
        </p:nvGraphicFramePr>
        <p:xfrm>
          <a:off x="2411413" y="2246313"/>
          <a:ext cx="4681537" cy="168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58" name="VISIO" r:id="rId1" imgW="3248025" imgH="1171575" progId="Visio.Drawing.11">
                  <p:embed/>
                </p:oleObj>
              </mc:Choice>
              <mc:Fallback>
                <p:oleObj name="VISIO" r:id="rId1" imgW="3248025" imgH="1171575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246313"/>
                        <a:ext cx="4681537" cy="168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4" name="Rectangle 8"/>
          <p:cNvSpPr>
            <a:spLocks noChangeArrowheads="1"/>
          </p:cNvSpPr>
          <p:nvPr/>
        </p:nvSpPr>
        <p:spPr bwMode="auto">
          <a:xfrm>
            <a:off x="1371600" y="4192588"/>
            <a:ext cx="7377113" cy="18018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0" dirty="0">
                <a:latin typeface="Arial" panose="020B0604020202020204" pitchFamily="34" charset="0"/>
                <a:ea typeface="楷体_GB2312" pitchFamily="49" charset="-122"/>
              </a:rPr>
              <a:t>结果</a:t>
            </a: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: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初态为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1,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终态只有一个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2 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所以， 一个</a:t>
            </a:r>
            <a:endParaRPr lang="zh-CN" altLang="en-US" sz="28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与上图的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</a:t>
            </a:r>
            <a:r>
              <a:rPr lang="zh-CN" altLang="en-US" sz="28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等价的正规表达式为</a:t>
            </a:r>
            <a:endParaRPr lang="zh-CN" altLang="en-US" sz="28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sz="2800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800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sz="2800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= </a:t>
            </a:r>
            <a:r>
              <a:rPr lang="en-US" altLang="zh-CN" sz="2800" b="1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*0(0 </a:t>
            </a: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en-US" altLang="zh-CN" sz="2800" b="1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 1)*</a:t>
            </a:r>
            <a:endParaRPr lang="en-US" altLang="zh-CN" sz="2800" b="1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2345" name="Rectangle 9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2346" name="Rectangle 10"/>
          <p:cNvSpPr>
            <a:spLocks noChangeArrowheads="1"/>
          </p:cNvSpPr>
          <p:nvPr/>
        </p:nvSpPr>
        <p:spPr bwMode="auto">
          <a:xfrm>
            <a:off x="969963" y="1412875"/>
            <a:ext cx="511492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 dirty="0">
                <a:latin typeface="楷体_GB2312" pitchFamily="49" charset="-122"/>
                <a:ea typeface="楷体_GB2312" pitchFamily="49" charset="-122"/>
              </a:rPr>
              <a:t>路径迭代法举例</a:t>
            </a:r>
            <a:endParaRPr lang="zh-CN" altLang="en-US" sz="3200" b="1" i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24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7" name="Text Box 7"/>
          <p:cNvSpPr txBox="1">
            <a:spLocks noChangeArrowheads="1"/>
          </p:cNvSpPr>
          <p:nvPr/>
        </p:nvSpPr>
        <p:spPr bwMode="auto">
          <a:xfrm>
            <a:off x="946150" y="2128838"/>
            <a:ext cx="7802563" cy="3532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Font typeface="Symbol" panose="05050102010706020507" pitchFamily="18" charset="2"/>
              <a:buChar char="-"/>
            </a:pP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latin typeface="Arial" panose="020B0604020202020204" pitchFamily="34" charset="0"/>
                <a:ea typeface="楷体_GB2312" pitchFamily="49" charset="-122"/>
              </a:rPr>
              <a:t>思路</a:t>
            </a: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:</a:t>
            </a:r>
            <a:endParaRPr lang="en-US" altLang="zh-CN" sz="28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(1)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扩展自动机的概念，允许正规表达式作为转移弧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的标记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这样，就有可能在消去某一中间状态时，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 保证自动机能够接受的字符串集合保持不变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(2)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在消去某一中间状态时，与其相关的转移弧也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将同时消去，所造成的影响将通过修改从每一个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  前趋状态到每一个后继状态的转移弧标记来弥补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以下分别介绍中间状态的消去与正规表达式构造过程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3368" name="Rectangle 8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3369" name="Rectangle 9"/>
          <p:cNvSpPr>
            <a:spLocks noChangeArrowheads="1"/>
          </p:cNvSpPr>
          <p:nvPr/>
        </p:nvSpPr>
        <p:spPr bwMode="auto">
          <a:xfrm>
            <a:off x="755650" y="1339850"/>
            <a:ext cx="8137525" cy="504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ea typeface="楷体_GB2312" pitchFamily="49" charset="-122"/>
              </a:rPr>
              <a:t> </a:t>
            </a:r>
            <a:r>
              <a:rPr lang="zh-CN" altLang="en-US" sz="3200" b="1" i="0" dirty="0">
                <a:ea typeface="楷体_GB2312" pitchFamily="49" charset="-122"/>
              </a:rPr>
              <a:t>状态消去法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（从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构造等价的正规表达式）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25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819150" y="1412875"/>
            <a:ext cx="8001000" cy="576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中间状态的消去</a:t>
            </a:r>
            <a:endParaRPr lang="zh-CN" altLang="en-US" sz="3200" b="1" i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44391" name="Group 7"/>
          <p:cNvGrpSpPr/>
          <p:nvPr/>
        </p:nvGrpSpPr>
        <p:grpSpPr bwMode="auto">
          <a:xfrm>
            <a:off x="990600" y="2492375"/>
            <a:ext cx="3076575" cy="3554413"/>
            <a:chOff x="624" y="1622"/>
            <a:chExt cx="1919" cy="2335"/>
          </a:xfrm>
        </p:grpSpPr>
        <p:graphicFrame>
          <p:nvGraphicFramePr>
            <p:cNvPr id="144392" name="Object 8"/>
            <p:cNvGraphicFramePr>
              <a:graphicFrameLocks noChangeAspect="1"/>
            </p:cNvGraphicFramePr>
            <p:nvPr/>
          </p:nvGraphicFramePr>
          <p:xfrm>
            <a:off x="624" y="1695"/>
            <a:ext cx="1919" cy="2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456" name="Visio" r:id="rId1" imgW="3623945" imgH="4233545" progId="Visio.Drawing.11">
                    <p:embed/>
                  </p:oleObj>
                </mc:Choice>
                <mc:Fallback>
                  <p:oleObj name="Visio" r:id="rId1" imgW="3623945" imgH="4233545" progId="Visio.Drawing.11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695"/>
                          <a:ext cx="1919" cy="2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393" name="Text Box 9"/>
            <p:cNvSpPr txBox="1">
              <a:spLocks noChangeArrowheads="1"/>
            </p:cNvSpPr>
            <p:nvPr/>
          </p:nvSpPr>
          <p:spPr bwMode="auto">
            <a:xfrm>
              <a:off x="672" y="2448"/>
              <a:ext cx="250" cy="1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394" name="Text Box 10"/>
            <p:cNvSpPr txBox="1">
              <a:spLocks noChangeArrowheads="1"/>
            </p:cNvSpPr>
            <p:nvPr/>
          </p:nvSpPr>
          <p:spPr bwMode="auto">
            <a:xfrm>
              <a:off x="672" y="2736"/>
              <a:ext cx="250" cy="1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395" name="Text Box 11"/>
            <p:cNvSpPr txBox="1">
              <a:spLocks noChangeArrowheads="1"/>
            </p:cNvSpPr>
            <p:nvPr/>
          </p:nvSpPr>
          <p:spPr bwMode="auto">
            <a:xfrm>
              <a:off x="672" y="3024"/>
              <a:ext cx="250" cy="1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396" name="Text Box 12"/>
            <p:cNvSpPr txBox="1">
              <a:spLocks noChangeArrowheads="1"/>
            </p:cNvSpPr>
            <p:nvPr/>
          </p:nvSpPr>
          <p:spPr bwMode="auto">
            <a:xfrm>
              <a:off x="2006" y="2467"/>
              <a:ext cx="250" cy="1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397" name="Text Box 13"/>
            <p:cNvSpPr txBox="1">
              <a:spLocks noChangeArrowheads="1"/>
            </p:cNvSpPr>
            <p:nvPr/>
          </p:nvSpPr>
          <p:spPr bwMode="auto">
            <a:xfrm>
              <a:off x="2006" y="2755"/>
              <a:ext cx="250" cy="1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398" name="Text Box 14"/>
            <p:cNvSpPr txBox="1">
              <a:spLocks noChangeArrowheads="1"/>
            </p:cNvSpPr>
            <p:nvPr/>
          </p:nvSpPr>
          <p:spPr bwMode="auto">
            <a:xfrm>
              <a:off x="2006" y="3043"/>
              <a:ext cx="250" cy="1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399" name="Text Box 15"/>
            <p:cNvSpPr txBox="1">
              <a:spLocks noChangeArrowheads="1"/>
            </p:cNvSpPr>
            <p:nvPr/>
          </p:nvSpPr>
          <p:spPr bwMode="auto">
            <a:xfrm>
              <a:off x="672" y="2054"/>
              <a:ext cx="269" cy="2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q</a:t>
              </a:r>
              <a:r>
                <a:rPr lang="en-US" altLang="zh-CN" b="1" baseline="-25000">
                  <a:latin typeface="Arial" panose="020B0604020202020204" pitchFamily="34" charset="0"/>
                </a:rPr>
                <a:t>1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00" name="Text Box 16"/>
            <p:cNvSpPr txBox="1">
              <a:spLocks noChangeArrowheads="1"/>
            </p:cNvSpPr>
            <p:nvPr/>
          </p:nvSpPr>
          <p:spPr bwMode="auto">
            <a:xfrm>
              <a:off x="672" y="3350"/>
              <a:ext cx="269" cy="2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q</a:t>
              </a:r>
              <a:r>
                <a:rPr lang="en-US" altLang="zh-CN" b="1" baseline="-25000">
                  <a:latin typeface="Arial" panose="020B0604020202020204" pitchFamily="34" charset="0"/>
                </a:rPr>
                <a:t>k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01" name="Text Box 17"/>
            <p:cNvSpPr txBox="1">
              <a:spLocks noChangeArrowheads="1"/>
            </p:cNvSpPr>
            <p:nvPr/>
          </p:nvSpPr>
          <p:spPr bwMode="auto">
            <a:xfrm>
              <a:off x="1968" y="2054"/>
              <a:ext cx="269" cy="2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p</a:t>
              </a:r>
              <a:r>
                <a:rPr lang="en-US" altLang="zh-CN" b="1" baseline="-25000">
                  <a:latin typeface="Arial" panose="020B0604020202020204" pitchFamily="34" charset="0"/>
                </a:rPr>
                <a:t>1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02" name="Text Box 18"/>
            <p:cNvSpPr txBox="1">
              <a:spLocks noChangeArrowheads="1"/>
            </p:cNvSpPr>
            <p:nvPr/>
          </p:nvSpPr>
          <p:spPr bwMode="auto">
            <a:xfrm>
              <a:off x="1950" y="3350"/>
              <a:ext cx="303" cy="2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</a:rPr>
                <a:t>p</a:t>
              </a:r>
              <a:r>
                <a:rPr lang="en-US" altLang="zh-CN" b="1" baseline="-25000" dirty="0">
                  <a:latin typeface="Arial" panose="020B0604020202020204" pitchFamily="34" charset="0"/>
                </a:rPr>
                <a:t>m</a:t>
              </a:r>
              <a:endParaRPr lang="en-US" altLang="zh-CN" b="1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144403" name="Text Box 19"/>
            <p:cNvSpPr txBox="1">
              <a:spLocks noChangeArrowheads="1"/>
            </p:cNvSpPr>
            <p:nvPr/>
          </p:nvSpPr>
          <p:spPr bwMode="auto">
            <a:xfrm>
              <a:off x="1728" y="2496"/>
              <a:ext cx="278" cy="2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P</a:t>
              </a:r>
              <a:r>
                <a:rPr lang="en-US" altLang="zh-CN" b="1" baseline="-25000">
                  <a:latin typeface="Arial" panose="020B0604020202020204" pitchFamily="34" charset="0"/>
                </a:rPr>
                <a:t>1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04" name="Text Box 20"/>
            <p:cNvSpPr txBox="1">
              <a:spLocks noChangeArrowheads="1"/>
            </p:cNvSpPr>
            <p:nvPr/>
          </p:nvSpPr>
          <p:spPr bwMode="auto">
            <a:xfrm>
              <a:off x="1728" y="2966"/>
              <a:ext cx="312" cy="2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P</a:t>
              </a:r>
              <a:r>
                <a:rPr lang="en-US" altLang="zh-CN" b="1" baseline="-25000">
                  <a:latin typeface="Arial" panose="020B0604020202020204" pitchFamily="34" charset="0"/>
                </a:rPr>
                <a:t>m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05" name="Text Box 21"/>
            <p:cNvSpPr txBox="1">
              <a:spLocks noChangeArrowheads="1"/>
            </p:cNvSpPr>
            <p:nvPr/>
          </p:nvSpPr>
          <p:spPr bwMode="auto">
            <a:xfrm>
              <a:off x="1046" y="3110"/>
              <a:ext cx="295" cy="2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Q</a:t>
              </a:r>
              <a:r>
                <a:rPr lang="en-US" altLang="zh-CN" b="1" baseline="-25000">
                  <a:latin typeface="Arial" panose="020B0604020202020204" pitchFamily="34" charset="0"/>
                </a:rPr>
                <a:t>k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06" name="Text Box 22"/>
            <p:cNvSpPr txBox="1">
              <a:spLocks noChangeArrowheads="1"/>
            </p:cNvSpPr>
            <p:nvPr/>
          </p:nvSpPr>
          <p:spPr bwMode="auto">
            <a:xfrm>
              <a:off x="950" y="2294"/>
              <a:ext cx="295" cy="2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Q</a:t>
              </a:r>
              <a:r>
                <a:rPr lang="en-US" altLang="zh-CN" b="1" baseline="-25000">
                  <a:latin typeface="Arial" panose="020B0604020202020204" pitchFamily="34" charset="0"/>
                </a:rPr>
                <a:t>1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07" name="Text Box 23"/>
            <p:cNvSpPr txBox="1">
              <a:spLocks noChangeArrowheads="1"/>
            </p:cNvSpPr>
            <p:nvPr/>
          </p:nvSpPr>
          <p:spPr bwMode="auto">
            <a:xfrm>
              <a:off x="1524" y="1862"/>
              <a:ext cx="345" cy="2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R</a:t>
              </a:r>
              <a:r>
                <a:rPr lang="en-US" altLang="zh-CN" b="1" baseline="-25000">
                  <a:latin typeface="Arial" panose="020B0604020202020204" pitchFamily="34" charset="0"/>
                </a:rPr>
                <a:t>11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08" name="Text Box 24"/>
            <p:cNvSpPr txBox="1">
              <a:spLocks noChangeArrowheads="1"/>
            </p:cNvSpPr>
            <p:nvPr/>
          </p:nvSpPr>
          <p:spPr bwMode="auto">
            <a:xfrm>
              <a:off x="1056" y="1622"/>
              <a:ext cx="378" cy="2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R</a:t>
              </a:r>
              <a:r>
                <a:rPr lang="en-US" altLang="zh-CN" b="1" baseline="-25000">
                  <a:latin typeface="Arial" panose="020B0604020202020204" pitchFamily="34" charset="0"/>
                </a:rPr>
                <a:t>1m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09" name="Text Box 25"/>
            <p:cNvSpPr txBox="1">
              <a:spLocks noChangeArrowheads="1"/>
            </p:cNvSpPr>
            <p:nvPr/>
          </p:nvSpPr>
          <p:spPr bwMode="auto">
            <a:xfrm>
              <a:off x="1346" y="3456"/>
              <a:ext cx="378" cy="2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R</a:t>
              </a:r>
              <a:r>
                <a:rPr lang="en-US" altLang="zh-CN" b="1" baseline="-25000">
                  <a:latin typeface="Arial" panose="020B0604020202020204" pitchFamily="34" charset="0"/>
                </a:rPr>
                <a:t>km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10" name="Text Box 26"/>
            <p:cNvSpPr txBox="1">
              <a:spLocks noChangeArrowheads="1"/>
            </p:cNvSpPr>
            <p:nvPr/>
          </p:nvSpPr>
          <p:spPr bwMode="auto">
            <a:xfrm>
              <a:off x="1008" y="3696"/>
              <a:ext cx="345" cy="2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R</a:t>
              </a:r>
              <a:r>
                <a:rPr lang="en-US" altLang="zh-CN" b="1" baseline="-25000">
                  <a:latin typeface="Arial" panose="020B0604020202020204" pitchFamily="34" charset="0"/>
                </a:rPr>
                <a:t>k1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44413" name="Object 29"/>
          <p:cNvGraphicFramePr>
            <a:graphicFrameLocks noChangeAspect="1"/>
          </p:cNvGraphicFramePr>
          <p:nvPr/>
        </p:nvGraphicFramePr>
        <p:xfrm>
          <a:off x="4419600" y="4203700"/>
          <a:ext cx="108902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7" name="VISIO" r:id="rId3" imgW="1066800" imgH="723900" progId="Visio.Drawing.11">
                  <p:embed/>
                </p:oleObj>
              </mc:Choice>
              <mc:Fallback>
                <p:oleObj name="VISIO" r:id="rId3" imgW="1066800" imgH="723900" progId="Visio.Drawing.11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203700"/>
                        <a:ext cx="1089025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4429" name="Group 45"/>
          <p:cNvGrpSpPr/>
          <p:nvPr/>
        </p:nvGrpSpPr>
        <p:grpSpPr bwMode="auto">
          <a:xfrm>
            <a:off x="5724525" y="2781300"/>
            <a:ext cx="2808288" cy="3103563"/>
            <a:chOff x="3611" y="1948"/>
            <a:chExt cx="1621" cy="1723"/>
          </a:xfrm>
        </p:grpSpPr>
        <p:graphicFrame>
          <p:nvGraphicFramePr>
            <p:cNvPr id="144412" name="Object 28"/>
            <p:cNvGraphicFramePr>
              <a:graphicFrameLocks noChangeAspect="1"/>
            </p:cNvGraphicFramePr>
            <p:nvPr/>
          </p:nvGraphicFramePr>
          <p:xfrm>
            <a:off x="3611" y="2027"/>
            <a:ext cx="1621" cy="1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458" name="VISIO" r:id="rId5" imgW="2574290" imgH="2574290" progId="Visio.Drawing.11">
                    <p:embed/>
                  </p:oleObj>
                </mc:Choice>
                <mc:Fallback>
                  <p:oleObj name="VISIO" r:id="rId5" imgW="2574290" imgH="2574290" progId="Visio.Drawing.11">
                    <p:embed/>
                    <p:pic>
                      <p:nvPicPr>
                        <p:cNvPr id="0" name="Picture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1" y="2027"/>
                          <a:ext cx="1621" cy="1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414" name="Text Box 30"/>
            <p:cNvSpPr txBox="1">
              <a:spLocks noChangeArrowheads="1"/>
            </p:cNvSpPr>
            <p:nvPr/>
          </p:nvSpPr>
          <p:spPr bwMode="auto">
            <a:xfrm>
              <a:off x="3648" y="2448"/>
              <a:ext cx="250" cy="15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415" name="Text Box 31"/>
            <p:cNvSpPr txBox="1">
              <a:spLocks noChangeArrowheads="1"/>
            </p:cNvSpPr>
            <p:nvPr/>
          </p:nvSpPr>
          <p:spPr bwMode="auto">
            <a:xfrm>
              <a:off x="3648" y="2736"/>
              <a:ext cx="250" cy="15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416" name="Text Box 32"/>
            <p:cNvSpPr txBox="1">
              <a:spLocks noChangeArrowheads="1"/>
            </p:cNvSpPr>
            <p:nvPr/>
          </p:nvSpPr>
          <p:spPr bwMode="auto">
            <a:xfrm>
              <a:off x="3648" y="3024"/>
              <a:ext cx="250" cy="15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417" name="Text Box 33"/>
            <p:cNvSpPr txBox="1">
              <a:spLocks noChangeArrowheads="1"/>
            </p:cNvSpPr>
            <p:nvPr/>
          </p:nvSpPr>
          <p:spPr bwMode="auto">
            <a:xfrm>
              <a:off x="4982" y="2467"/>
              <a:ext cx="250" cy="15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418" name="Text Box 34"/>
            <p:cNvSpPr txBox="1">
              <a:spLocks noChangeArrowheads="1"/>
            </p:cNvSpPr>
            <p:nvPr/>
          </p:nvSpPr>
          <p:spPr bwMode="auto">
            <a:xfrm>
              <a:off x="4982" y="2755"/>
              <a:ext cx="250" cy="15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419" name="Text Box 35"/>
            <p:cNvSpPr txBox="1">
              <a:spLocks noChangeArrowheads="1"/>
            </p:cNvSpPr>
            <p:nvPr/>
          </p:nvSpPr>
          <p:spPr bwMode="auto">
            <a:xfrm>
              <a:off x="4982" y="3043"/>
              <a:ext cx="250" cy="15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sym typeface="Wingdings" panose="05000000000000000000" pitchFamily="2" charset="2"/>
                </a:rPr>
                <a:t></a:t>
              </a:r>
              <a:endParaRPr lang="en-US" altLang="zh-CN" sz="1200" i="0"/>
            </a:p>
          </p:txBody>
        </p:sp>
        <p:sp>
          <p:nvSpPr>
            <p:cNvPr id="144420" name="Text Box 36"/>
            <p:cNvSpPr txBox="1">
              <a:spLocks noChangeArrowheads="1"/>
            </p:cNvSpPr>
            <p:nvPr/>
          </p:nvSpPr>
          <p:spPr bwMode="auto">
            <a:xfrm>
              <a:off x="3977" y="1948"/>
              <a:ext cx="798" cy="1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Arial" panose="020B0604020202020204" pitchFamily="34" charset="0"/>
                </a:rPr>
                <a:t>R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11</a:t>
              </a:r>
              <a:r>
                <a:rPr lang="en-US" altLang="zh-CN" sz="1600" b="1">
                  <a:latin typeface="Arial" panose="020B0604020202020204" pitchFamily="34" charset="0"/>
                </a:rPr>
                <a:t>+ Q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1</a:t>
              </a:r>
              <a:r>
                <a:rPr lang="en-US" altLang="zh-CN" sz="1600" b="1">
                  <a:latin typeface="Arial" panose="020B0604020202020204" pitchFamily="34" charset="0"/>
                </a:rPr>
                <a:t>S* P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1</a:t>
              </a:r>
              <a:endParaRPr lang="en-US" altLang="zh-CN" sz="1600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21" name="Text Box 37"/>
            <p:cNvSpPr txBox="1">
              <a:spLocks noChangeArrowheads="1"/>
            </p:cNvSpPr>
            <p:nvPr/>
          </p:nvSpPr>
          <p:spPr bwMode="auto">
            <a:xfrm>
              <a:off x="3792" y="2380"/>
              <a:ext cx="852" cy="1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Arial" panose="020B0604020202020204" pitchFamily="34" charset="0"/>
                </a:rPr>
                <a:t>R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1m</a:t>
              </a:r>
              <a:r>
                <a:rPr lang="en-US" altLang="zh-CN" sz="1600" b="1">
                  <a:latin typeface="Arial" panose="020B0604020202020204" pitchFamily="34" charset="0"/>
                </a:rPr>
                <a:t>+ Q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1</a:t>
              </a:r>
              <a:r>
                <a:rPr lang="en-US" altLang="zh-CN" sz="1600" b="1">
                  <a:latin typeface="Arial" panose="020B0604020202020204" pitchFamily="34" charset="0"/>
                </a:rPr>
                <a:t>S* P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m</a:t>
              </a:r>
              <a:endParaRPr lang="en-US" altLang="zh-CN" sz="1600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22" name="Text Box 38"/>
            <p:cNvSpPr txBox="1">
              <a:spLocks noChangeArrowheads="1"/>
            </p:cNvSpPr>
            <p:nvPr/>
          </p:nvSpPr>
          <p:spPr bwMode="auto">
            <a:xfrm>
              <a:off x="3977" y="3484"/>
              <a:ext cx="851" cy="1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Arial" panose="020B0604020202020204" pitchFamily="34" charset="0"/>
                </a:rPr>
                <a:t>R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km</a:t>
              </a:r>
              <a:r>
                <a:rPr lang="en-US" altLang="zh-CN" sz="1600" b="1">
                  <a:latin typeface="Arial" panose="020B0604020202020204" pitchFamily="34" charset="0"/>
                </a:rPr>
                <a:t>+ Q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k</a:t>
              </a:r>
              <a:r>
                <a:rPr lang="en-US" altLang="zh-CN" sz="1600" b="1">
                  <a:latin typeface="Arial" panose="020B0604020202020204" pitchFamily="34" charset="0"/>
                </a:rPr>
                <a:t>S* P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m</a:t>
              </a:r>
              <a:endParaRPr lang="en-US" altLang="zh-CN" sz="1600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23" name="Text Box 39"/>
            <p:cNvSpPr txBox="1">
              <a:spLocks noChangeArrowheads="1"/>
            </p:cNvSpPr>
            <p:nvPr/>
          </p:nvSpPr>
          <p:spPr bwMode="auto">
            <a:xfrm>
              <a:off x="3792" y="3004"/>
              <a:ext cx="821" cy="1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Arial" panose="020B0604020202020204" pitchFamily="34" charset="0"/>
                </a:rPr>
                <a:t>R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k1 </a:t>
              </a:r>
              <a:r>
                <a:rPr lang="en-US" altLang="zh-CN" sz="1600" b="1">
                  <a:latin typeface="Arial" panose="020B0604020202020204" pitchFamily="34" charset="0"/>
                </a:rPr>
                <a:t>+ Q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k</a:t>
              </a:r>
              <a:r>
                <a:rPr lang="en-US" altLang="zh-CN" sz="1600" b="1">
                  <a:latin typeface="Arial" panose="020B0604020202020204" pitchFamily="34" charset="0"/>
                </a:rPr>
                <a:t>S* P</a:t>
              </a:r>
              <a:r>
                <a:rPr lang="en-US" altLang="zh-CN" sz="1600" b="1" baseline="-25000">
                  <a:latin typeface="Arial" panose="020B0604020202020204" pitchFamily="34" charset="0"/>
                </a:rPr>
                <a:t>1</a:t>
              </a:r>
              <a:endParaRPr lang="en-US" altLang="zh-CN" sz="1600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24" name="Text Box 40"/>
            <p:cNvSpPr txBox="1">
              <a:spLocks noChangeArrowheads="1"/>
            </p:cNvSpPr>
            <p:nvPr/>
          </p:nvSpPr>
          <p:spPr bwMode="auto">
            <a:xfrm>
              <a:off x="3664" y="2054"/>
              <a:ext cx="249" cy="2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q</a:t>
              </a:r>
              <a:r>
                <a:rPr lang="en-US" altLang="zh-CN" b="1" baseline="-25000">
                  <a:latin typeface="Arial" panose="020B0604020202020204" pitchFamily="34" charset="0"/>
                </a:rPr>
                <a:t>1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25" name="Text Box 41"/>
            <p:cNvSpPr txBox="1">
              <a:spLocks noChangeArrowheads="1"/>
            </p:cNvSpPr>
            <p:nvPr/>
          </p:nvSpPr>
          <p:spPr bwMode="auto">
            <a:xfrm>
              <a:off x="4960" y="2016"/>
              <a:ext cx="249" cy="2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p</a:t>
              </a:r>
              <a:r>
                <a:rPr lang="en-US" altLang="zh-CN" b="1" baseline="-25000">
                  <a:latin typeface="Arial" panose="020B0604020202020204" pitchFamily="34" charset="0"/>
                </a:rPr>
                <a:t>1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26" name="Text Box 42"/>
            <p:cNvSpPr txBox="1">
              <a:spLocks noChangeArrowheads="1"/>
            </p:cNvSpPr>
            <p:nvPr/>
          </p:nvSpPr>
          <p:spPr bwMode="auto">
            <a:xfrm>
              <a:off x="3648" y="3312"/>
              <a:ext cx="249" cy="2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q</a:t>
              </a:r>
              <a:r>
                <a:rPr lang="en-US" altLang="zh-CN" b="1" baseline="-25000">
                  <a:latin typeface="Arial" panose="020B0604020202020204" pitchFamily="34" charset="0"/>
                </a:rPr>
                <a:t>k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  <p:sp>
          <p:nvSpPr>
            <p:cNvPr id="144427" name="Text Box 43"/>
            <p:cNvSpPr txBox="1">
              <a:spLocks noChangeArrowheads="1"/>
            </p:cNvSpPr>
            <p:nvPr/>
          </p:nvSpPr>
          <p:spPr bwMode="auto">
            <a:xfrm>
              <a:off x="4926" y="3312"/>
              <a:ext cx="280" cy="2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Arial" panose="020B0604020202020204" pitchFamily="34" charset="0"/>
                </a:rPr>
                <a:t>p</a:t>
              </a:r>
              <a:r>
                <a:rPr lang="en-US" altLang="zh-CN" b="1" baseline="-25000">
                  <a:latin typeface="Arial" panose="020B0604020202020204" pitchFamily="34" charset="0"/>
                </a:rPr>
                <a:t>m</a:t>
              </a:r>
              <a:endParaRPr lang="en-US" altLang="zh-CN" b="1" baseline="-25000">
                <a:latin typeface="Arial" panose="020B0604020202020204" pitchFamily="34" charset="0"/>
              </a:endParaRPr>
            </a:p>
          </p:txBody>
        </p:sp>
      </p:grpSp>
      <p:sp>
        <p:nvSpPr>
          <p:cNvPr id="144428" name="Text Box 44"/>
          <p:cNvSpPr txBox="1">
            <a:spLocks noChangeArrowheads="1"/>
          </p:cNvSpPr>
          <p:nvPr/>
        </p:nvSpPr>
        <p:spPr bwMode="auto">
          <a:xfrm>
            <a:off x="4130675" y="4065588"/>
            <a:ext cx="906463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b="1" i="0">
                <a:latin typeface="Arial" panose="020B0604020202020204" pitchFamily="34" charset="0"/>
                <a:ea typeface="楷体_GB2312" pitchFamily="49" charset="-122"/>
              </a:rPr>
              <a:t>消去 </a:t>
            </a:r>
            <a:r>
              <a:rPr lang="en-US" altLang="zh-CN" b="1">
                <a:latin typeface="Arial" panose="020B0604020202020204" pitchFamily="34" charset="0"/>
                <a:ea typeface="楷体_GB2312" pitchFamily="49" charset="-122"/>
              </a:rPr>
              <a:t>s</a:t>
            </a:r>
            <a:endParaRPr lang="en-US" altLang="zh-CN" b="1" baseline="-2500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4430" name="Rectangle 46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26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44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44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4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2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5" name="Text Box 7"/>
          <p:cNvSpPr txBox="1">
            <a:spLocks noChangeArrowheads="1"/>
          </p:cNvSpPr>
          <p:nvPr/>
        </p:nvSpPr>
        <p:spPr bwMode="auto">
          <a:xfrm>
            <a:off x="685800" y="1844675"/>
            <a:ext cx="8305800" cy="1036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Font typeface="Symbol" panose="05050102010706020507" pitchFamily="18" charset="2"/>
              <a:buChar char="-"/>
            </a:pP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800" b="1" i="0" dirty="0">
                <a:latin typeface="Arial" panose="020B0604020202020204" pitchFamily="34" charset="0"/>
                <a:ea typeface="楷体_GB2312" pitchFamily="49" charset="-122"/>
              </a:rPr>
              <a:t>步骤</a:t>
            </a:r>
            <a:r>
              <a:rPr lang="en-US" altLang="zh-CN" sz="2800" b="1" i="0" dirty="0">
                <a:latin typeface="Arial" panose="020B0604020202020204" pitchFamily="34" charset="0"/>
                <a:ea typeface="楷体_GB2312" pitchFamily="49" charset="-122"/>
              </a:rPr>
              <a:t>: </a:t>
            </a:r>
            <a:r>
              <a:rPr lang="zh-CN" altLang="en-US" sz="2400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假设自动机已转化为扩展的形式</a:t>
            </a:r>
            <a:r>
              <a:rPr lang="zh-CN" altLang="en-US" sz="2400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）</a:t>
            </a:r>
            <a:endParaRPr lang="en-US" altLang="zh-CN" sz="2400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(1)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对每一终态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，依次消去除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和初态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之外的其它状态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;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5417" name="Rectangle 9"/>
          <p:cNvSpPr>
            <a:spLocks noChangeArrowheads="1"/>
          </p:cNvSpPr>
          <p:nvPr/>
        </p:nvSpPr>
        <p:spPr bwMode="auto">
          <a:xfrm>
            <a:off x="868363" y="2997200"/>
            <a:ext cx="8116887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(2)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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，最终可得到一般形式如下左图两状态自动机，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该自动机对应的正规表达式可表示为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( R+SU*T )*SU*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5418" name="Rectangle 10"/>
          <p:cNvSpPr>
            <a:spLocks noChangeArrowheads="1"/>
          </p:cNvSpPr>
          <p:nvPr/>
        </p:nvSpPr>
        <p:spPr bwMode="auto">
          <a:xfrm>
            <a:off x="842963" y="3810000"/>
            <a:ext cx="812800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(3)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=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，最终可得到如下右图的自动机，它对应的正规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表达式可以表示为 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R*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5419" name="Rectangle 11"/>
          <p:cNvSpPr>
            <a:spLocks noChangeArrowheads="1"/>
          </p:cNvSpPr>
          <p:nvPr/>
        </p:nvSpPr>
        <p:spPr bwMode="auto">
          <a:xfrm>
            <a:off x="914400" y="5943600"/>
            <a:ext cx="554355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(4)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最终的正规表达式为每一终态对应的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正规表达式之和（并）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5420" name="Rectangle 12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5421" name="Rectangle 13"/>
          <p:cNvSpPr>
            <a:spLocks noChangeArrowheads="1"/>
          </p:cNvSpPr>
          <p:nvPr/>
        </p:nvSpPr>
        <p:spPr bwMode="auto">
          <a:xfrm>
            <a:off x="468313" y="1268413"/>
            <a:ext cx="7559675" cy="504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en-US" altLang="zh-CN" sz="3200" b="1" i="0" dirty="0">
                <a:ea typeface="楷体_GB2312" pitchFamily="49" charset="-122"/>
              </a:rPr>
              <a:t> </a:t>
            </a:r>
            <a:r>
              <a:rPr lang="zh-CN" altLang="en-US" sz="3200" b="1" i="0" dirty="0">
                <a:ea typeface="楷体_GB2312" pitchFamily="49" charset="-122"/>
              </a:rPr>
              <a:t>状态消去法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（从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构造等价的正规表达式）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145422" name="Object 14"/>
          <p:cNvGraphicFramePr>
            <a:graphicFrameLocks noChangeAspect="1"/>
          </p:cNvGraphicFramePr>
          <p:nvPr/>
        </p:nvGraphicFramePr>
        <p:xfrm>
          <a:off x="1908175" y="4559300"/>
          <a:ext cx="2940050" cy="146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52" name="Visio" r:id="rId1" imgW="3499485" imgH="1602740" progId="Visio.Drawing.11">
                  <p:embed/>
                </p:oleObj>
              </mc:Choice>
              <mc:Fallback>
                <p:oleObj name="Visio" r:id="rId1" imgW="3499485" imgH="1602740" progId="Visio.Drawing.11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559300"/>
                        <a:ext cx="2940050" cy="146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3" name="Object 15"/>
          <p:cNvGraphicFramePr>
            <a:graphicFrameLocks noChangeAspect="1"/>
          </p:cNvGraphicFramePr>
          <p:nvPr/>
        </p:nvGraphicFramePr>
        <p:xfrm>
          <a:off x="6040438" y="4581525"/>
          <a:ext cx="1339850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53" name="Visio" r:id="rId3" imgW="1602740" imgH="1297940" progId="Visio.Drawing.11">
                  <p:embed/>
                </p:oleObj>
              </mc:Choice>
              <mc:Fallback>
                <p:oleObj name="Visio" r:id="rId3" imgW="1602740" imgH="1297940" progId="Visio.Drawing.11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0438" y="4581525"/>
                        <a:ext cx="1339850" cy="130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27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45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5" grpId="0" autoUpdateAnimBg="0"/>
      <p:bldP spid="145417" grpId="0"/>
      <p:bldP spid="145418" grpId="0"/>
      <p:bldP spid="14541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8" name="Rectangle 6"/>
          <p:cNvSpPr>
            <a:spLocks noChangeArrowheads="1"/>
          </p:cNvSpPr>
          <p:nvPr/>
        </p:nvSpPr>
        <p:spPr bwMode="auto">
          <a:xfrm>
            <a:off x="609600" y="1447800"/>
            <a:ext cx="821055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楷体_GB2312" pitchFamily="49" charset="-122"/>
                <a:ea typeface="楷体_GB2312" pitchFamily="49" charset="-122"/>
              </a:rPr>
              <a:t>状态消去法举例</a:t>
            </a:r>
            <a:r>
              <a:rPr lang="zh-CN" altLang="en-US" sz="3200" b="1" i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（推广至非</a:t>
            </a:r>
            <a:r>
              <a:rPr lang="en-US" altLang="zh-CN" sz="28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</a:t>
            </a:r>
            <a:r>
              <a:rPr lang="zh-CN" altLang="en-US" sz="3200" b="1" i="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的情形）</a:t>
            </a:r>
            <a:endParaRPr lang="zh-CN" altLang="en-US" sz="3200" b="1" i="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6439" name="Object 7"/>
          <p:cNvGraphicFramePr>
            <a:graphicFrameLocks noChangeAspect="1"/>
          </p:cNvGraphicFramePr>
          <p:nvPr/>
        </p:nvGraphicFramePr>
        <p:xfrm>
          <a:off x="1806575" y="2590800"/>
          <a:ext cx="55308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85" name="Visio" r:id="rId1" imgW="6570345" imgH="1287145" progId="Visio.Drawing.11">
                  <p:embed/>
                </p:oleObj>
              </mc:Choice>
              <mc:Fallback>
                <p:oleObj name="Visio" r:id="rId1" imgW="6570345" imgH="1287145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2590800"/>
                        <a:ext cx="55308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440" name="Group 8"/>
          <p:cNvGrpSpPr/>
          <p:nvPr/>
        </p:nvGrpSpPr>
        <p:grpSpPr bwMode="auto">
          <a:xfrm>
            <a:off x="762000" y="4338638"/>
            <a:ext cx="6575425" cy="1154112"/>
            <a:chOff x="480" y="2733"/>
            <a:chExt cx="4142" cy="727"/>
          </a:xfrm>
        </p:grpSpPr>
        <p:graphicFrame>
          <p:nvGraphicFramePr>
            <p:cNvPr id="146441" name="Object 9"/>
            <p:cNvGraphicFramePr>
              <a:graphicFrameLocks noChangeAspect="1"/>
            </p:cNvGraphicFramePr>
            <p:nvPr/>
          </p:nvGraphicFramePr>
          <p:xfrm>
            <a:off x="480" y="2733"/>
            <a:ext cx="43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486" name="VISIO" r:id="rId3" imgW="1066800" imgH="723900" progId="Visio.Drawing.11">
                    <p:embed/>
                  </p:oleObj>
                </mc:Choice>
                <mc:Fallback>
                  <p:oleObj name="VISIO" r:id="rId3" imgW="1066800" imgH="723900" progId="Visio.Drawing.11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733"/>
                          <a:ext cx="43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442" name="Object 10"/>
            <p:cNvGraphicFramePr>
              <a:graphicFrameLocks noChangeAspect="1"/>
            </p:cNvGraphicFramePr>
            <p:nvPr/>
          </p:nvGraphicFramePr>
          <p:xfrm>
            <a:off x="1138" y="2784"/>
            <a:ext cx="3484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487" name="Visio" r:id="rId5" imgW="6570345" imgH="1287145" progId="Visio.Drawing.11">
                    <p:embed/>
                  </p:oleObj>
                </mc:Choice>
                <mc:Fallback>
                  <p:oleObj name="Visio" r:id="rId5" imgW="6570345" imgH="1287145" progId="Visio.Drawing.11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8" y="2784"/>
                          <a:ext cx="3484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6443" name="Rectangle 11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28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463" name="Object 7"/>
          <p:cNvGraphicFramePr>
            <a:graphicFrameLocks noChangeAspect="1"/>
          </p:cNvGraphicFramePr>
          <p:nvPr/>
        </p:nvGraphicFramePr>
        <p:xfrm>
          <a:off x="1905000" y="2203450"/>
          <a:ext cx="55308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41" name="VISIO" r:id="rId1" imgW="5534025" imgH="1076325" progId="Visio.Drawing.11">
                  <p:embed/>
                </p:oleObj>
              </mc:Choice>
              <mc:Fallback>
                <p:oleObj name="VISIO" r:id="rId1" imgW="5534025" imgH="1076325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03450"/>
                        <a:ext cx="55308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4" name="Rectangle 8"/>
          <p:cNvSpPr>
            <a:spLocks noChangeArrowheads="1"/>
          </p:cNvSpPr>
          <p:nvPr/>
        </p:nvSpPr>
        <p:spPr bwMode="auto">
          <a:xfrm>
            <a:off x="827088" y="3352800"/>
            <a:ext cx="163036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</a:rPr>
              <a:t>对于终态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D</a:t>
            </a:r>
            <a:endParaRPr lang="en-US" altLang="zh-CN" sz="2400" b="1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47465" name="Group 9"/>
          <p:cNvGrpSpPr/>
          <p:nvPr/>
        </p:nvGrpSpPr>
        <p:grpSpPr bwMode="auto">
          <a:xfrm>
            <a:off x="1755775" y="3886200"/>
            <a:ext cx="5407025" cy="1073150"/>
            <a:chOff x="914" y="2448"/>
            <a:chExt cx="3406" cy="676"/>
          </a:xfrm>
        </p:grpSpPr>
        <p:graphicFrame>
          <p:nvGraphicFramePr>
            <p:cNvPr id="147466" name="Object 10"/>
            <p:cNvGraphicFramePr>
              <a:graphicFrameLocks noChangeAspect="1"/>
            </p:cNvGraphicFramePr>
            <p:nvPr/>
          </p:nvGraphicFramePr>
          <p:xfrm>
            <a:off x="914" y="2545"/>
            <a:ext cx="43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42" name="VISIO" r:id="rId3" imgW="1066800" imgH="723900" progId="Visio.Drawing.11">
                    <p:embed/>
                  </p:oleObj>
                </mc:Choice>
                <mc:Fallback>
                  <p:oleObj name="VISIO" r:id="rId3" imgW="1066800" imgH="723900" progId="Visio.Drawing.11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2545"/>
                          <a:ext cx="43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467" name="Object 11"/>
            <p:cNvGraphicFramePr>
              <a:graphicFrameLocks noChangeAspect="1"/>
            </p:cNvGraphicFramePr>
            <p:nvPr/>
          </p:nvGraphicFramePr>
          <p:xfrm>
            <a:off x="1700" y="2448"/>
            <a:ext cx="2620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43" name="Visio" r:id="rId5" imgW="4944745" imgH="1287145" progId="Visio.Drawing.11">
                    <p:embed/>
                  </p:oleObj>
                </mc:Choice>
                <mc:Fallback>
                  <p:oleObj name="Visio" r:id="rId5" imgW="4944745" imgH="1287145" progId="Visio.Drawing.11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0" y="2448"/>
                          <a:ext cx="2620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7468" name="Group 12"/>
          <p:cNvGrpSpPr/>
          <p:nvPr/>
        </p:nvGrpSpPr>
        <p:grpSpPr bwMode="auto">
          <a:xfrm>
            <a:off x="1752600" y="5403850"/>
            <a:ext cx="4953000" cy="1073150"/>
            <a:chOff x="1104" y="3404"/>
            <a:chExt cx="3120" cy="676"/>
          </a:xfrm>
        </p:grpSpPr>
        <p:graphicFrame>
          <p:nvGraphicFramePr>
            <p:cNvPr id="147469" name="Object 13"/>
            <p:cNvGraphicFramePr>
              <a:graphicFrameLocks noChangeAspect="1"/>
            </p:cNvGraphicFramePr>
            <p:nvPr/>
          </p:nvGraphicFramePr>
          <p:xfrm>
            <a:off x="1104" y="3405"/>
            <a:ext cx="43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44" name="VISIO" r:id="rId7" imgW="1066800" imgH="723900" progId="Visio.Drawing.11">
                    <p:embed/>
                  </p:oleObj>
                </mc:Choice>
                <mc:Fallback>
                  <p:oleObj name="VISIO" r:id="rId7" imgW="1066800" imgH="723900" progId="Visio.Drawing.11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405"/>
                          <a:ext cx="43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470" name="Object 14"/>
            <p:cNvGraphicFramePr>
              <a:graphicFrameLocks noChangeAspect="1"/>
            </p:cNvGraphicFramePr>
            <p:nvPr/>
          </p:nvGraphicFramePr>
          <p:xfrm>
            <a:off x="2036" y="3404"/>
            <a:ext cx="2188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545" name="Visio" r:id="rId8" imgW="4131945" imgH="1287145" progId="Visio.Drawing.11">
                    <p:embed/>
                  </p:oleObj>
                </mc:Choice>
                <mc:Fallback>
                  <p:oleObj name="Visio" r:id="rId8" imgW="4131945" imgH="1287145" progId="Visio.Drawing.11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6" y="3404"/>
                          <a:ext cx="2188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7471" name="Rectangle 15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7472" name="Rectangle 16"/>
          <p:cNvSpPr>
            <a:spLocks noChangeArrowheads="1"/>
          </p:cNvSpPr>
          <p:nvPr/>
        </p:nvSpPr>
        <p:spPr bwMode="auto">
          <a:xfrm>
            <a:off x="609600" y="14478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楷体_GB2312" pitchFamily="49" charset="-122"/>
                <a:ea typeface="楷体_GB2312" pitchFamily="49" charset="-122"/>
              </a:rPr>
              <a:t>状态消去法举例</a:t>
            </a:r>
            <a:endParaRPr lang="zh-CN" altLang="en-US" sz="3200" b="1" i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29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487" name="Object 7"/>
          <p:cNvGraphicFramePr>
            <a:graphicFrameLocks noChangeAspect="1"/>
          </p:cNvGraphicFramePr>
          <p:nvPr/>
        </p:nvGraphicFramePr>
        <p:xfrm>
          <a:off x="1905000" y="2051050"/>
          <a:ext cx="55308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65" name="VISIO" r:id="rId1" imgW="5534025" imgH="1076325" progId="Visio.Drawing.11">
                  <p:embed/>
                </p:oleObj>
              </mc:Choice>
              <mc:Fallback>
                <p:oleObj name="VISIO" r:id="rId1" imgW="5534025" imgH="1076325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51050"/>
                        <a:ext cx="55308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8" name="Rectangle 8"/>
          <p:cNvSpPr>
            <a:spLocks noChangeArrowheads="1"/>
          </p:cNvSpPr>
          <p:nvPr/>
        </p:nvSpPr>
        <p:spPr bwMode="auto">
          <a:xfrm>
            <a:off x="1003300" y="3276600"/>
            <a:ext cx="16303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</a:rPr>
              <a:t>对于终态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C</a:t>
            </a:r>
            <a:endParaRPr lang="en-US" altLang="zh-CN" sz="2400" b="1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48489" name="Group 9"/>
          <p:cNvGrpSpPr/>
          <p:nvPr/>
        </p:nvGrpSpPr>
        <p:grpSpPr bwMode="auto">
          <a:xfrm>
            <a:off x="2289175" y="5022850"/>
            <a:ext cx="4308475" cy="1073150"/>
            <a:chOff x="1442" y="3164"/>
            <a:chExt cx="2714" cy="676"/>
          </a:xfrm>
        </p:grpSpPr>
        <p:graphicFrame>
          <p:nvGraphicFramePr>
            <p:cNvPr id="148490" name="Object 10"/>
            <p:cNvGraphicFramePr>
              <a:graphicFrameLocks noChangeAspect="1"/>
            </p:cNvGraphicFramePr>
            <p:nvPr/>
          </p:nvGraphicFramePr>
          <p:xfrm>
            <a:off x="1442" y="3456"/>
            <a:ext cx="43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566" name="VISIO" r:id="rId3" imgW="1066800" imgH="723900" progId="Visio.Drawing.11">
                    <p:embed/>
                  </p:oleObj>
                </mc:Choice>
                <mc:Fallback>
                  <p:oleObj name="VISIO" r:id="rId3" imgW="1066800" imgH="723900" progId="Visio.Drawing.11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2" y="3456"/>
                          <a:ext cx="43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491" name="Object 11"/>
            <p:cNvGraphicFramePr>
              <a:graphicFrameLocks noChangeAspect="1"/>
            </p:cNvGraphicFramePr>
            <p:nvPr/>
          </p:nvGraphicFramePr>
          <p:xfrm>
            <a:off x="2400" y="3164"/>
            <a:ext cx="1756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567" name="Visio" r:id="rId5" imgW="3319145" imgH="1287145" progId="Visio.Drawing.11">
                    <p:embed/>
                  </p:oleObj>
                </mc:Choice>
                <mc:Fallback>
                  <p:oleObj name="Visio" r:id="rId5" imgW="3319145" imgH="1287145" progId="Visio.Drawing.11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3164"/>
                          <a:ext cx="1756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8492" name="Group 12"/>
          <p:cNvGrpSpPr/>
          <p:nvPr/>
        </p:nvGrpSpPr>
        <p:grpSpPr bwMode="auto">
          <a:xfrm>
            <a:off x="2286000" y="3498850"/>
            <a:ext cx="5181600" cy="1073150"/>
            <a:chOff x="1440" y="2204"/>
            <a:chExt cx="3264" cy="676"/>
          </a:xfrm>
        </p:grpSpPr>
        <p:graphicFrame>
          <p:nvGraphicFramePr>
            <p:cNvPr id="148493" name="Object 13"/>
            <p:cNvGraphicFramePr>
              <a:graphicFrameLocks noChangeAspect="1"/>
            </p:cNvGraphicFramePr>
            <p:nvPr/>
          </p:nvGraphicFramePr>
          <p:xfrm>
            <a:off x="2084" y="2204"/>
            <a:ext cx="2620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568" name="Visio" r:id="rId7" imgW="4944745" imgH="1287145" progId="Visio.Drawing.11">
                    <p:embed/>
                  </p:oleObj>
                </mc:Choice>
                <mc:Fallback>
                  <p:oleObj name="Visio" r:id="rId7" imgW="4944745" imgH="1287145" progId="Visio.Drawing.11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4" y="2204"/>
                          <a:ext cx="2620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494" name="Object 14"/>
            <p:cNvGraphicFramePr>
              <a:graphicFrameLocks noChangeAspect="1"/>
            </p:cNvGraphicFramePr>
            <p:nvPr/>
          </p:nvGraphicFramePr>
          <p:xfrm>
            <a:off x="1440" y="2496"/>
            <a:ext cx="43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569" name="VISIO" r:id="rId9" imgW="1066800" imgH="723900" progId="Visio.Drawing.11">
                    <p:embed/>
                  </p:oleObj>
                </mc:Choice>
                <mc:Fallback>
                  <p:oleObj name="VISIO" r:id="rId9" imgW="1066800" imgH="723900" progId="Visio.Drawing.11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496"/>
                          <a:ext cx="43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8495" name="Rectangle 15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8496" name="Rectangle 16"/>
          <p:cNvSpPr>
            <a:spLocks noChangeArrowheads="1"/>
          </p:cNvSpPr>
          <p:nvPr/>
        </p:nvSpPr>
        <p:spPr bwMode="auto">
          <a:xfrm>
            <a:off x="609600" y="1268413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楷体_GB2312" pitchFamily="49" charset="-122"/>
                <a:ea typeface="楷体_GB2312" pitchFamily="49" charset="-122"/>
              </a:rPr>
              <a:t>状态消去法举例</a:t>
            </a:r>
            <a:endParaRPr lang="zh-CN" altLang="en-US" sz="3200" b="1" i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30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511" name="Object 7"/>
          <p:cNvGraphicFramePr>
            <a:graphicFrameLocks noChangeAspect="1"/>
          </p:cNvGraphicFramePr>
          <p:nvPr/>
        </p:nvGraphicFramePr>
        <p:xfrm>
          <a:off x="1905000" y="1828800"/>
          <a:ext cx="55308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4" name="VISIO" r:id="rId1" imgW="5534025" imgH="1076325" progId="Visio.Drawing.11">
                  <p:embed/>
                </p:oleObj>
              </mc:Choice>
              <mc:Fallback>
                <p:oleObj name="VISIO" r:id="rId1" imgW="5534025" imgH="1076325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828800"/>
                        <a:ext cx="55308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9512" name="Group 8"/>
          <p:cNvGrpSpPr/>
          <p:nvPr/>
        </p:nvGrpSpPr>
        <p:grpSpPr bwMode="auto">
          <a:xfrm>
            <a:off x="1187450" y="3054350"/>
            <a:ext cx="6119813" cy="1073150"/>
            <a:chOff x="417" y="1924"/>
            <a:chExt cx="3855" cy="676"/>
          </a:xfrm>
        </p:grpSpPr>
        <p:sp>
          <p:nvSpPr>
            <p:cNvPr id="149513" name="Rectangle 9"/>
            <p:cNvSpPr>
              <a:spLocks noChangeArrowheads="1"/>
            </p:cNvSpPr>
            <p:nvPr/>
          </p:nvSpPr>
          <p:spPr bwMode="auto">
            <a:xfrm>
              <a:off x="417" y="2024"/>
              <a:ext cx="1027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对于终态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C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149514" name="Object 10"/>
            <p:cNvGraphicFramePr>
              <a:graphicFrameLocks noChangeAspect="1"/>
            </p:cNvGraphicFramePr>
            <p:nvPr/>
          </p:nvGraphicFramePr>
          <p:xfrm>
            <a:off x="1620" y="2025"/>
            <a:ext cx="43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595" name="VISIO" r:id="rId3" imgW="1066800" imgH="723900" progId="Visio.Drawing.11">
                    <p:embed/>
                  </p:oleObj>
                </mc:Choice>
                <mc:Fallback>
                  <p:oleObj name="VISIO" r:id="rId3" imgW="1066800" imgH="723900" progId="Visio.Drawing.11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0" y="2025"/>
                          <a:ext cx="43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15" name="Object 11"/>
            <p:cNvGraphicFramePr>
              <a:graphicFrameLocks noChangeAspect="1"/>
            </p:cNvGraphicFramePr>
            <p:nvPr/>
          </p:nvGraphicFramePr>
          <p:xfrm>
            <a:off x="2516" y="1924"/>
            <a:ext cx="1756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596" name="VISIO" r:id="rId5" imgW="2790825" imgH="1076325" progId="Visio.Drawing.11">
                    <p:embed/>
                  </p:oleObj>
                </mc:Choice>
                <mc:Fallback>
                  <p:oleObj name="VISIO" r:id="rId5" imgW="2790825" imgH="1076325" progId="Visio.Drawing.11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6" y="1924"/>
                          <a:ext cx="1756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9516" name="Group 12"/>
          <p:cNvGrpSpPr/>
          <p:nvPr/>
        </p:nvGrpSpPr>
        <p:grpSpPr bwMode="auto">
          <a:xfrm>
            <a:off x="1187450" y="4203700"/>
            <a:ext cx="6881813" cy="1073150"/>
            <a:chOff x="417" y="2648"/>
            <a:chExt cx="4335" cy="676"/>
          </a:xfrm>
        </p:grpSpPr>
        <p:graphicFrame>
          <p:nvGraphicFramePr>
            <p:cNvPr id="149517" name="Object 13"/>
            <p:cNvGraphicFramePr>
              <a:graphicFrameLocks noChangeAspect="1"/>
            </p:cNvGraphicFramePr>
            <p:nvPr/>
          </p:nvGraphicFramePr>
          <p:xfrm>
            <a:off x="1632" y="2649"/>
            <a:ext cx="43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597" name="VISIO" r:id="rId7" imgW="1066800" imgH="723900" progId="Visio.Drawing.11">
                    <p:embed/>
                  </p:oleObj>
                </mc:Choice>
                <mc:Fallback>
                  <p:oleObj name="VISIO" r:id="rId7" imgW="1066800" imgH="723900" progId="Visio.Drawing.11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649"/>
                          <a:ext cx="43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18" name="Object 14"/>
            <p:cNvGraphicFramePr>
              <a:graphicFrameLocks noChangeAspect="1"/>
            </p:cNvGraphicFramePr>
            <p:nvPr/>
          </p:nvGraphicFramePr>
          <p:xfrm>
            <a:off x="2564" y="2648"/>
            <a:ext cx="2188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598" name="VISIO" r:id="rId8" imgW="3476625" imgH="1076325" progId="Visio.Drawing.11">
                    <p:embed/>
                  </p:oleObj>
                </mc:Choice>
                <mc:Fallback>
                  <p:oleObj name="VISIO" r:id="rId8" imgW="3476625" imgH="1076325" progId="Visio.Drawing.11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4" y="2648"/>
                          <a:ext cx="2188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9519" name="Rectangle 15"/>
            <p:cNvSpPr>
              <a:spLocks noChangeArrowheads="1"/>
            </p:cNvSpPr>
            <p:nvPr/>
          </p:nvSpPr>
          <p:spPr bwMode="auto">
            <a:xfrm>
              <a:off x="417" y="2648"/>
              <a:ext cx="1027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对于终态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49520" name="Group 16"/>
          <p:cNvGrpSpPr/>
          <p:nvPr/>
        </p:nvGrpSpPr>
        <p:grpSpPr bwMode="auto">
          <a:xfrm>
            <a:off x="1211263" y="5194300"/>
            <a:ext cx="6035675" cy="965200"/>
            <a:chOff x="432" y="3272"/>
            <a:chExt cx="3802" cy="608"/>
          </a:xfrm>
        </p:grpSpPr>
        <p:sp>
          <p:nvSpPr>
            <p:cNvPr id="149521" name="Rectangle 17"/>
            <p:cNvSpPr>
              <a:spLocks noChangeArrowheads="1"/>
            </p:cNvSpPr>
            <p:nvPr/>
          </p:nvSpPr>
          <p:spPr bwMode="auto">
            <a:xfrm>
              <a:off x="432" y="3272"/>
              <a:ext cx="166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等价的正规表达式</a:t>
              </a:r>
              <a:endPara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49522" name="Rectangle 18"/>
            <p:cNvSpPr>
              <a:spLocks noChangeArrowheads="1"/>
            </p:cNvSpPr>
            <p:nvPr/>
          </p:nvSpPr>
          <p:spPr bwMode="auto">
            <a:xfrm>
              <a:off x="1372" y="3592"/>
              <a:ext cx="2862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  <a:ea typeface="华文行楷" panose="02010800040101010101" pitchFamily="2" charset="-122"/>
                </a:rPr>
                <a:t>(0+1)*1(0+1)+(0+1)*1(0+1)(0+1)</a:t>
              </a:r>
              <a:endParaRPr lang="en-US" altLang="zh-CN" sz="2400" b="1" dirty="0"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49523" name="Rectangle 19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609600" y="1196975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i="0">
                <a:latin typeface="楷体_GB2312" pitchFamily="49" charset="-122"/>
                <a:ea typeface="楷体_GB2312" pitchFamily="49" charset="-122"/>
              </a:rPr>
              <a:t>状态消去法举例</a:t>
            </a:r>
            <a:endParaRPr lang="zh-CN" altLang="en-US" sz="3200" b="1" i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31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4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23" name="Rectangle 19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609600" y="1196975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：用状态消去法将以下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DFA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转为正规表达式。</a:t>
            </a:r>
            <a:endParaRPr lang="zh-CN" altLang="en-US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2411760" y="1844824"/>
          <a:ext cx="3744913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14" name="Visio" r:id="rId1" imgW="3124200" imgH="1076325" progId="Visio.Drawing.11">
                  <p:embed/>
                </p:oleObj>
              </mc:Choice>
              <mc:Fallback>
                <p:oleObj name="Visio" r:id="rId1" imgW="3124200" imgH="1076325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844824"/>
                        <a:ext cx="3744913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609600" y="3243560"/>
            <a:ext cx="8229600" cy="18840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12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解：首先要消除中间节点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。根据状态消去法，需要找出节点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的所有前继和后继节点。观察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DFA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，可以发现节点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有两个前驱，一个是节点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，另一个是节点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（这种情况特别容易被漏掉）。在这两种情况下，后继都是节点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。因此，</a:t>
            </a:r>
            <a:endParaRPr lang="zh-CN" altLang="en-US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555776" y="5355009"/>
            <a:ext cx="6405341" cy="934920"/>
            <a:chOff x="2555776" y="5355009"/>
            <a:chExt cx="6405341" cy="934920"/>
          </a:xfrm>
        </p:grpSpPr>
        <p:sp>
          <p:nvSpPr>
            <p:cNvPr id="2" name="椭圆 1"/>
            <p:cNvSpPr/>
            <p:nvPr/>
          </p:nvSpPr>
          <p:spPr bwMode="auto">
            <a:xfrm>
              <a:off x="3331095" y="5806590"/>
              <a:ext cx="432048" cy="432048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000" b="0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5668889" y="5805264"/>
              <a:ext cx="432048" cy="432048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000" b="0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椭圆 21"/>
            <p:cNvSpPr/>
            <p:nvPr/>
          </p:nvSpPr>
          <p:spPr bwMode="auto">
            <a:xfrm>
              <a:off x="3275856" y="5763412"/>
              <a:ext cx="542526" cy="526517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000" b="0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5613650" y="5763412"/>
              <a:ext cx="542526" cy="526517"/>
            </a:xfrm>
            <a:prstGeom prst="ellips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000" b="0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" name="直线箭头连接符 3"/>
            <p:cNvCxnSpPr>
              <a:endCxn id="22" idx="2"/>
            </p:cNvCxnSpPr>
            <p:nvPr/>
          </p:nvCxnSpPr>
          <p:spPr bwMode="auto">
            <a:xfrm>
              <a:off x="2555776" y="6021288"/>
              <a:ext cx="720080" cy="5383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25" name="直线箭头连接符 24"/>
            <p:cNvCxnSpPr>
              <a:endCxn id="23" idx="2"/>
            </p:cNvCxnSpPr>
            <p:nvPr/>
          </p:nvCxnSpPr>
          <p:spPr bwMode="auto">
            <a:xfrm>
              <a:off x="3818382" y="6021288"/>
              <a:ext cx="1795268" cy="5383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27" name="弧 26"/>
            <p:cNvSpPr/>
            <p:nvPr/>
          </p:nvSpPr>
          <p:spPr bwMode="auto">
            <a:xfrm rot="17106406">
              <a:off x="6160976" y="5837579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弧 27"/>
            <p:cNvSpPr/>
            <p:nvPr/>
          </p:nvSpPr>
          <p:spPr bwMode="auto">
            <a:xfrm rot="11500258">
              <a:off x="3356389" y="5362055"/>
              <a:ext cx="392274" cy="424801"/>
            </a:xfrm>
            <a:prstGeom prst="arc">
              <a:avLst>
                <a:gd name="adj1" fmla="val 17142475"/>
                <a:gd name="adj2" fmla="val 14430358"/>
              </a:avLst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000" b="1" i="1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397396" y="5830335"/>
              <a:ext cx="43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i="0" dirty="0">
                  <a:solidFill>
                    <a:srgbClr val="000000"/>
                  </a:solidFill>
                </a:rPr>
                <a:t>1</a:t>
              </a:r>
              <a:endParaRPr kumimoji="1" lang="zh-CN" altLang="en-US" i="0" dirty="0">
                <a:solidFill>
                  <a:srgbClr val="000000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737033" y="5838995"/>
              <a:ext cx="43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i="0" dirty="0">
                  <a:solidFill>
                    <a:srgbClr val="000000"/>
                  </a:solidFill>
                </a:rPr>
                <a:t>4</a:t>
              </a:r>
              <a:endParaRPr kumimoji="1" lang="zh-CN" altLang="en-US" i="0" dirty="0">
                <a:solidFill>
                  <a:srgbClr val="000000"/>
                </a:solidFill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1297" y="5355009"/>
              <a:ext cx="1422400" cy="15240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4506" y="5645786"/>
              <a:ext cx="2260600" cy="31750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8517" y="5509255"/>
              <a:ext cx="3022600" cy="317500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32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23" name="Rectangle 19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609600" y="1196975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：用状态消去法将以下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DFA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转为正规表达式。</a:t>
            </a:r>
            <a:endParaRPr lang="zh-CN" altLang="en-US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2411760" y="1844824"/>
          <a:ext cx="3744913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37" name="Visio" r:id="rId1" imgW="3124200" imgH="1076325" progId="Visio.Drawing.11">
                  <p:embed/>
                </p:oleObj>
              </mc:Choice>
              <mc:Fallback>
                <p:oleObj name="Visio" r:id="rId1" imgW="3124200" imgH="1076325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844824"/>
                        <a:ext cx="3744913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609600" y="3243560"/>
            <a:ext cx="8229600" cy="18840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/>
          <a:lstStyle/>
          <a:p>
            <a:pPr>
              <a:lnSpc>
                <a:spcPct val="12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解：考虑终态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考虑终态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en-US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3331095" y="5806590"/>
            <a:ext cx="432048" cy="432048"/>
          </a:xfrm>
          <a:prstGeom prst="ellips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0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5668889" y="5805264"/>
            <a:ext cx="432048" cy="432048"/>
          </a:xfrm>
          <a:prstGeom prst="ellips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0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3275856" y="5763412"/>
            <a:ext cx="542526" cy="526517"/>
          </a:xfrm>
          <a:prstGeom prst="ellips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0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5613650" y="5763412"/>
            <a:ext cx="542526" cy="526517"/>
          </a:xfrm>
          <a:prstGeom prst="ellipse">
            <a:avLst/>
          </a:prstGeom>
          <a:solidFill>
            <a:srgbClr val="FF0000">
              <a:alpha val="31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0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" name="直线箭头连接符 3"/>
          <p:cNvCxnSpPr>
            <a:endCxn id="22" idx="2"/>
          </p:cNvCxnSpPr>
          <p:nvPr/>
        </p:nvCxnSpPr>
        <p:spPr bwMode="auto">
          <a:xfrm>
            <a:off x="2555776" y="6021288"/>
            <a:ext cx="720080" cy="5383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5" name="直线箭头连接符 24"/>
          <p:cNvCxnSpPr>
            <a:endCxn id="23" idx="2"/>
          </p:cNvCxnSpPr>
          <p:nvPr/>
        </p:nvCxnSpPr>
        <p:spPr bwMode="auto">
          <a:xfrm>
            <a:off x="3818382" y="6021288"/>
            <a:ext cx="1795268" cy="5383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27" name="弧 26"/>
          <p:cNvSpPr/>
          <p:nvPr/>
        </p:nvSpPr>
        <p:spPr bwMode="auto">
          <a:xfrm rot="17106406">
            <a:off x="6160976" y="5837579"/>
            <a:ext cx="392274" cy="424801"/>
          </a:xfrm>
          <a:prstGeom prst="arc">
            <a:avLst>
              <a:gd name="adj1" fmla="val 17142475"/>
              <a:gd name="adj2" fmla="val 14430358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弧 27"/>
          <p:cNvSpPr/>
          <p:nvPr/>
        </p:nvSpPr>
        <p:spPr bwMode="auto">
          <a:xfrm rot="11500258">
            <a:off x="3356389" y="5362055"/>
            <a:ext cx="392274" cy="424801"/>
          </a:xfrm>
          <a:prstGeom prst="arc">
            <a:avLst>
              <a:gd name="adj1" fmla="val 17142475"/>
              <a:gd name="adj2" fmla="val 14430358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97396" y="5830335"/>
            <a:ext cx="43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i="0" dirty="0">
                <a:solidFill>
                  <a:srgbClr val="000000"/>
                </a:solidFill>
              </a:rPr>
              <a:t>1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737033" y="5838995"/>
            <a:ext cx="43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i="0" dirty="0">
                <a:solidFill>
                  <a:srgbClr val="000000"/>
                </a:solidFill>
              </a:rPr>
              <a:t>4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297" y="5355009"/>
            <a:ext cx="1422400" cy="152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506" y="5645786"/>
            <a:ext cx="2260600" cy="317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517" y="5509255"/>
            <a:ext cx="3022600" cy="3175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33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sp>
        <p:nvSpPr>
          <p:cNvPr id="20" name="椭圆 19"/>
          <p:cNvSpPr/>
          <p:nvPr/>
        </p:nvSpPr>
        <p:spPr bwMode="auto">
          <a:xfrm>
            <a:off x="3331095" y="4048150"/>
            <a:ext cx="432048" cy="432048"/>
          </a:xfrm>
          <a:prstGeom prst="ellipse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0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3275856" y="4004972"/>
            <a:ext cx="542526" cy="526517"/>
          </a:xfrm>
          <a:prstGeom prst="ellipse">
            <a:avLst/>
          </a:prstGeom>
          <a:solidFill>
            <a:srgbClr val="FF0000">
              <a:alpha val="31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0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1" name="直线箭头连接符 30"/>
          <p:cNvCxnSpPr>
            <a:endCxn id="26" idx="2"/>
          </p:cNvCxnSpPr>
          <p:nvPr/>
        </p:nvCxnSpPr>
        <p:spPr bwMode="auto">
          <a:xfrm>
            <a:off x="2555776" y="4262848"/>
            <a:ext cx="720080" cy="5383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34" name="弧 33"/>
          <p:cNvSpPr/>
          <p:nvPr/>
        </p:nvSpPr>
        <p:spPr bwMode="auto">
          <a:xfrm rot="11500258">
            <a:off x="3356389" y="3603615"/>
            <a:ext cx="392274" cy="424801"/>
          </a:xfrm>
          <a:prstGeom prst="arc">
            <a:avLst>
              <a:gd name="adj1" fmla="val 17142475"/>
              <a:gd name="adj2" fmla="val 14430358"/>
            </a:avLst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1" i="1" u="none" strike="noStrike" cap="none" normalizeH="0" baseline="0">
              <a:ln>
                <a:noFill/>
              </a:ln>
              <a:solidFill>
                <a:srgbClr val="80008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397396" y="4071895"/>
            <a:ext cx="43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i="0" dirty="0">
                <a:solidFill>
                  <a:srgbClr val="000000"/>
                </a:solidFill>
              </a:rPr>
              <a:t>1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297" y="3596569"/>
            <a:ext cx="1422400" cy="1524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23" name="Rectangle 19"/>
          <p:cNvSpPr>
            <a:spLocks noChangeArrowheads="1"/>
          </p:cNvSpPr>
          <p:nvPr/>
        </p:nvSpPr>
        <p:spPr bwMode="auto">
          <a:xfrm>
            <a:off x="1187450" y="188913"/>
            <a:ext cx="6624638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3600" b="1" i="0">
                <a:ea typeface="华文行楷" panose="02010800040101010101" pitchFamily="2" charset="-122"/>
              </a:rPr>
              <a:t>有限自动机与正规表达式的关系</a:t>
            </a:r>
            <a:endParaRPr lang="zh-CN" altLang="en-US" sz="3600" b="1" i="0">
              <a:ea typeface="华文行楷" panose="02010800040101010101" pitchFamily="2" charset="-122"/>
            </a:endParaRPr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609600" y="1196975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：用状态消去法将以下</a:t>
            </a:r>
            <a:r>
              <a:rPr lang="en-US" altLang="zh-CN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DFA</a:t>
            </a: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转为正规表达式。</a:t>
            </a:r>
            <a:endParaRPr lang="zh-CN" altLang="en-US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2411760" y="1844824"/>
          <a:ext cx="3744913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61" name="Visio" r:id="rId1" imgW="3124200" imgH="1076325" progId="Visio.Drawing.11">
                  <p:embed/>
                </p:oleObj>
              </mc:Choice>
              <mc:Fallback>
                <p:oleObj name="Visio" r:id="rId1" imgW="3124200" imgH="1076325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844824"/>
                        <a:ext cx="3744913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609600" y="3243560"/>
            <a:ext cx="8229600" cy="18840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t" anchorCtr="0"/>
          <a:lstStyle/>
          <a:p>
            <a:pPr>
              <a:lnSpc>
                <a:spcPct val="120000"/>
              </a:lnSpc>
            </a:pPr>
            <a:r>
              <a:rPr lang="zh-CN" altLang="en-US" sz="2400" i="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解：因此最终的正规表达式为</a:t>
            </a:r>
            <a:endParaRPr lang="en-US" altLang="zh-CN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400" i="0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34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50" y="4324958"/>
            <a:ext cx="5702300" cy="3175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68" name="Group 72"/>
          <p:cNvGrpSpPr/>
          <p:nvPr/>
        </p:nvGrpSpPr>
        <p:grpSpPr bwMode="auto">
          <a:xfrm>
            <a:off x="3635375" y="4316413"/>
            <a:ext cx="3816350" cy="2352675"/>
            <a:chOff x="1745" y="2544"/>
            <a:chExt cx="2191" cy="1152"/>
          </a:xfrm>
        </p:grpSpPr>
        <p:graphicFrame>
          <p:nvGraphicFramePr>
            <p:cNvPr id="55350" name="Object 54"/>
            <p:cNvGraphicFramePr>
              <a:graphicFrameLocks noChangeAspect="1"/>
            </p:cNvGraphicFramePr>
            <p:nvPr/>
          </p:nvGraphicFramePr>
          <p:xfrm>
            <a:off x="3329" y="2784"/>
            <a:ext cx="158" cy="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07" name="VISIO" r:id="rId1" imgW="254635" imgH="1046480" progId="Visio.Drawing.11">
                    <p:embed/>
                  </p:oleObj>
                </mc:Choice>
                <mc:Fallback>
                  <p:oleObj name="VISIO" r:id="rId1" imgW="254635" imgH="1046480" progId="Visio.Drawing.11">
                    <p:embed/>
                    <p:pic>
                      <p:nvPicPr>
                        <p:cNvPr id="0" name="Picture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9" y="2784"/>
                          <a:ext cx="158" cy="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1" name="Object 55"/>
            <p:cNvGraphicFramePr>
              <a:graphicFrameLocks noChangeAspect="1"/>
            </p:cNvGraphicFramePr>
            <p:nvPr/>
          </p:nvGraphicFramePr>
          <p:xfrm>
            <a:off x="3521" y="2689"/>
            <a:ext cx="415" cy="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08" name="VISIO" r:id="rId3" imgW="659765" imgH="1282065" progId="Visio.Drawing.11">
                    <p:embed/>
                  </p:oleObj>
                </mc:Choice>
                <mc:Fallback>
                  <p:oleObj name="VISIO" r:id="rId3" imgW="659765" imgH="1282065" progId="Visio.Drawing.11">
                    <p:embed/>
                    <p:pic>
                      <p:nvPicPr>
                        <p:cNvPr id="0" name="Picture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1" y="2689"/>
                          <a:ext cx="415" cy="8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2" name="Object 56"/>
            <p:cNvGraphicFramePr>
              <a:graphicFrameLocks noChangeAspect="1"/>
            </p:cNvGraphicFramePr>
            <p:nvPr/>
          </p:nvGraphicFramePr>
          <p:xfrm>
            <a:off x="2138" y="2640"/>
            <a:ext cx="1239" cy="8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09" name="VISIO" r:id="rId5" imgW="1971675" imgH="1323975" progId="Visio.Drawing.11">
                    <p:embed/>
                  </p:oleObj>
                </mc:Choice>
                <mc:Fallback>
                  <p:oleObj name="VISIO" r:id="rId5" imgW="1971675" imgH="1323975" progId="Visio.Drawing.11">
                    <p:embed/>
                    <p:pic>
                      <p:nvPicPr>
                        <p:cNvPr id="0" name="Picture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8" y="2640"/>
                          <a:ext cx="1239" cy="8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3" name="Object 57"/>
            <p:cNvGraphicFramePr>
              <a:graphicFrameLocks noChangeAspect="1"/>
            </p:cNvGraphicFramePr>
            <p:nvPr/>
          </p:nvGraphicFramePr>
          <p:xfrm>
            <a:off x="2129" y="2688"/>
            <a:ext cx="1218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10" name="VISIO" r:id="rId7" imgW="1933575" imgH="1295400" progId="Visio.Drawing.11">
                    <p:embed/>
                  </p:oleObj>
                </mc:Choice>
                <mc:Fallback>
                  <p:oleObj name="VISIO" r:id="rId7" imgW="1933575" imgH="1295400" progId="Visio.Drawing.11">
                    <p:embed/>
                    <p:pic>
                      <p:nvPicPr>
                        <p:cNvPr id="0" name="Picture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9" y="2688"/>
                          <a:ext cx="1218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4" name="Object 58"/>
            <p:cNvGraphicFramePr>
              <a:graphicFrameLocks noChangeAspect="1"/>
            </p:cNvGraphicFramePr>
            <p:nvPr/>
          </p:nvGraphicFramePr>
          <p:xfrm>
            <a:off x="2116" y="3456"/>
            <a:ext cx="1165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11" name="VISIO" r:id="rId9" imgW="1838325" imgH="254635" progId="Visio.Drawing.11">
                    <p:embed/>
                  </p:oleObj>
                </mc:Choice>
                <mc:Fallback>
                  <p:oleObj name="VISIO" r:id="rId9" imgW="1838325" imgH="254635" progId="Visio.Drawing.11">
                    <p:embed/>
                    <p:pic>
                      <p:nvPicPr>
                        <p:cNvPr id="0" name="Picture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6" y="3456"/>
                          <a:ext cx="1165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55" name="Object 59"/>
            <p:cNvGraphicFramePr>
              <a:graphicFrameLocks noChangeAspect="1"/>
            </p:cNvGraphicFramePr>
            <p:nvPr/>
          </p:nvGraphicFramePr>
          <p:xfrm>
            <a:off x="1923" y="2794"/>
            <a:ext cx="158" cy="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512" name="VISIO" r:id="rId11" imgW="254635" imgH="1046480" progId="Visio.Drawing.11">
                    <p:embed/>
                  </p:oleObj>
                </mc:Choice>
                <mc:Fallback>
                  <p:oleObj name="VISIO" r:id="rId11" imgW="254635" imgH="1046480" progId="Visio.Drawing.11">
                    <p:embed/>
                    <p:pic>
                      <p:nvPicPr>
                        <p:cNvPr id="0" name="Picture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3" y="2794"/>
                          <a:ext cx="158" cy="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5356" name="Group 60"/>
            <p:cNvGrpSpPr/>
            <p:nvPr/>
          </p:nvGrpSpPr>
          <p:grpSpPr bwMode="auto">
            <a:xfrm>
              <a:off x="1764" y="2563"/>
              <a:ext cx="461" cy="317"/>
              <a:chOff x="1764" y="2563"/>
              <a:chExt cx="461" cy="317"/>
            </a:xfrm>
          </p:grpSpPr>
          <p:graphicFrame>
            <p:nvGraphicFramePr>
              <p:cNvPr id="55357" name="Object 61"/>
              <p:cNvGraphicFramePr>
                <a:graphicFrameLocks noChangeAspect="1"/>
              </p:cNvGraphicFramePr>
              <p:nvPr/>
            </p:nvGraphicFramePr>
            <p:xfrm>
              <a:off x="1764" y="2563"/>
              <a:ext cx="461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513" name="VISIO" r:id="rId13" imgW="733425" imgH="504825" progId="Visio.Drawing.11">
                      <p:embed/>
                    </p:oleObj>
                  </mc:Choice>
                  <mc:Fallback>
                    <p:oleObj name="VISIO" r:id="rId13" imgW="733425" imgH="504825" progId="Visio.Drawing.11">
                      <p:embed/>
                      <p:pic>
                        <p:nvPicPr>
                          <p:cNvPr id="0" name="Picture 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4" y="2563"/>
                            <a:ext cx="461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358" name="Rectangle 62"/>
              <p:cNvSpPr>
                <a:spLocks noChangeArrowheads="1"/>
              </p:cNvSpPr>
              <p:nvPr/>
            </p:nvSpPr>
            <p:spPr bwMode="auto">
              <a:xfrm>
                <a:off x="1776" y="2640"/>
                <a:ext cx="393" cy="14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  <a:r>
                  <a:rPr lang="en-US" altLang="zh-CN" sz="1400" b="1" i="0">
                    <a:latin typeface="Arial" panose="020B0604020202020204" pitchFamily="34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1400" b="1">
                    <a:latin typeface="Arial" panose="020B0604020202020204" pitchFamily="34" charset="0"/>
                    <a:ea typeface="华文行楷" panose="02010800040101010101" pitchFamily="2" charset="-122"/>
                  </a:rPr>
                  <a:t>NFA</a:t>
                </a:r>
                <a:endParaRPr lang="en-US" altLang="zh-CN" sz="1400" b="1"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55359" name="Group 63"/>
            <p:cNvGrpSpPr/>
            <p:nvPr/>
          </p:nvGrpSpPr>
          <p:grpSpPr bwMode="auto">
            <a:xfrm>
              <a:off x="3185" y="2544"/>
              <a:ext cx="461" cy="317"/>
              <a:chOff x="3185" y="2544"/>
              <a:chExt cx="461" cy="317"/>
            </a:xfrm>
          </p:grpSpPr>
          <p:graphicFrame>
            <p:nvGraphicFramePr>
              <p:cNvPr id="55360" name="Object 64"/>
              <p:cNvGraphicFramePr>
                <a:graphicFrameLocks noChangeAspect="1"/>
              </p:cNvGraphicFramePr>
              <p:nvPr/>
            </p:nvGraphicFramePr>
            <p:xfrm>
              <a:off x="3185" y="2544"/>
              <a:ext cx="461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514" name="VISIO" r:id="rId15" imgW="733425" imgH="504825" progId="Visio.Drawing.11">
                      <p:embed/>
                    </p:oleObj>
                  </mc:Choice>
                  <mc:Fallback>
                    <p:oleObj name="VISIO" r:id="rId15" imgW="733425" imgH="504825" progId="Visio.Drawing.11">
                      <p:embed/>
                      <p:pic>
                        <p:nvPicPr>
                          <p:cNvPr id="0" name="Picture 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5" y="2544"/>
                            <a:ext cx="461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361" name="Rectangle 65"/>
              <p:cNvSpPr>
                <a:spLocks noChangeArrowheads="1"/>
              </p:cNvSpPr>
              <p:nvPr/>
            </p:nvSpPr>
            <p:spPr bwMode="auto">
              <a:xfrm>
                <a:off x="3254" y="2592"/>
                <a:ext cx="315" cy="14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>
                    <a:latin typeface="Arial" panose="020B0604020202020204" pitchFamily="34" charset="0"/>
                    <a:ea typeface="华文行楷" panose="02010800040101010101" pitchFamily="2" charset="-122"/>
                  </a:rPr>
                  <a:t>NFA</a:t>
                </a:r>
                <a:endParaRPr lang="en-US" altLang="zh-CN" sz="1400" b="1"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55362" name="Group 66"/>
            <p:cNvGrpSpPr/>
            <p:nvPr/>
          </p:nvGrpSpPr>
          <p:grpSpPr bwMode="auto">
            <a:xfrm>
              <a:off x="3185" y="3360"/>
              <a:ext cx="461" cy="317"/>
              <a:chOff x="3185" y="3360"/>
              <a:chExt cx="461" cy="317"/>
            </a:xfrm>
          </p:grpSpPr>
          <p:graphicFrame>
            <p:nvGraphicFramePr>
              <p:cNvPr id="55363" name="Object 67"/>
              <p:cNvGraphicFramePr>
                <a:graphicFrameLocks noChangeAspect="1"/>
              </p:cNvGraphicFramePr>
              <p:nvPr/>
            </p:nvGraphicFramePr>
            <p:xfrm>
              <a:off x="3185" y="3360"/>
              <a:ext cx="461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515" name="VISIO" r:id="rId16" imgW="733425" imgH="504825" progId="Visio.Drawing.11">
                      <p:embed/>
                    </p:oleObj>
                  </mc:Choice>
                  <mc:Fallback>
                    <p:oleObj name="VISIO" r:id="rId16" imgW="733425" imgH="504825" progId="Visio.Drawing.11">
                      <p:embed/>
                      <p:pic>
                        <p:nvPicPr>
                          <p:cNvPr id="0" name="Picture 6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5" y="3360"/>
                            <a:ext cx="461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364" name="Rectangle 68"/>
              <p:cNvSpPr>
                <a:spLocks noChangeArrowheads="1"/>
              </p:cNvSpPr>
              <p:nvPr/>
            </p:nvSpPr>
            <p:spPr bwMode="auto">
              <a:xfrm>
                <a:off x="3254" y="3408"/>
                <a:ext cx="346" cy="14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altLang="zh-CN" sz="1400" b="1">
                    <a:latin typeface="Arial" panose="020B0604020202020204" pitchFamily="34" charset="0"/>
                    <a:ea typeface="华文行楷" panose="02010800040101010101" pitchFamily="2" charset="-122"/>
                  </a:rPr>
                  <a:t>DFA</a:t>
                </a:r>
                <a:endParaRPr lang="en-US" altLang="zh-CN" sz="1400" b="1"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</p:grpSp>
        <p:grpSp>
          <p:nvGrpSpPr>
            <p:cNvPr id="55365" name="Group 69"/>
            <p:cNvGrpSpPr/>
            <p:nvPr/>
          </p:nvGrpSpPr>
          <p:grpSpPr bwMode="auto">
            <a:xfrm>
              <a:off x="1745" y="3379"/>
              <a:ext cx="461" cy="317"/>
              <a:chOff x="1745" y="3379"/>
              <a:chExt cx="461" cy="317"/>
            </a:xfrm>
          </p:grpSpPr>
          <p:graphicFrame>
            <p:nvGraphicFramePr>
              <p:cNvPr id="55366" name="Object 70"/>
              <p:cNvGraphicFramePr>
                <a:graphicFrameLocks noChangeAspect="1"/>
              </p:cNvGraphicFramePr>
              <p:nvPr/>
            </p:nvGraphicFramePr>
            <p:xfrm>
              <a:off x="1745" y="3379"/>
              <a:ext cx="461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516" name="VISIO" r:id="rId17" imgW="733425" imgH="504825" progId="Visio.Drawing.11">
                      <p:embed/>
                    </p:oleObj>
                  </mc:Choice>
                  <mc:Fallback>
                    <p:oleObj name="VISIO" r:id="rId17" imgW="733425" imgH="504825" progId="Visio.Drawing.11">
                      <p:embed/>
                      <p:pic>
                        <p:nvPicPr>
                          <p:cNvPr id="0" name="Picture 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45" y="3379"/>
                            <a:ext cx="461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367" name="Rectangle 71"/>
              <p:cNvSpPr>
                <a:spLocks noChangeArrowheads="1"/>
              </p:cNvSpPr>
              <p:nvPr/>
            </p:nvSpPr>
            <p:spPr bwMode="auto">
              <a:xfrm>
                <a:off x="1840" y="3456"/>
                <a:ext cx="248" cy="14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>
                    <a:latin typeface="Arial" panose="020B0604020202020204" pitchFamily="34" charset="0"/>
                    <a:ea typeface="华文行楷" panose="02010800040101010101" pitchFamily="2" charset="-122"/>
                  </a:rPr>
                  <a:t>RE</a:t>
                </a:r>
                <a:endParaRPr lang="en-US" altLang="zh-CN" sz="1400" b="1">
                  <a:latin typeface="Arial" panose="020B0604020202020204" pitchFamily="34" charset="0"/>
                  <a:ea typeface="华文行楷" panose="02010800040101010101" pitchFamily="2" charset="-122"/>
                </a:endParaRPr>
              </a:p>
            </p:txBody>
          </p:sp>
        </p:grpSp>
      </p:grpSp>
      <p:sp>
        <p:nvSpPr>
          <p:cNvPr id="55369" name="Rectangle 73"/>
          <p:cNvSpPr>
            <a:spLocks noChangeArrowheads="1"/>
          </p:cNvSpPr>
          <p:nvPr/>
        </p:nvSpPr>
        <p:spPr bwMode="auto">
          <a:xfrm>
            <a:off x="827088" y="1196975"/>
            <a:ext cx="5545137" cy="2922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1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en-US" altLang="zh-CN" sz="3200" b="1" i="0">
                <a:ea typeface="楷体_GB2312" pitchFamily="49" charset="-122"/>
              </a:rPr>
              <a:t>  </a:t>
            </a:r>
            <a:r>
              <a:rPr lang="zh-CN" altLang="en-US" sz="3200" b="1" i="0">
                <a:ea typeface="楷体_GB2312" pitchFamily="49" charset="-122"/>
              </a:rPr>
              <a:t>几个转换算法</a:t>
            </a:r>
            <a:endParaRPr lang="zh-CN" altLang="en-US" sz="3200" b="1" i="0">
              <a:ea typeface="楷体_GB2312" pitchFamily="49" charset="-122"/>
            </a:endParaRPr>
          </a:p>
          <a:p>
            <a:pPr lvl="1">
              <a:buClr>
                <a:srgbClr val="800080"/>
              </a:buClr>
              <a:buFont typeface="Symbol" panose="05050102010706020507" pitchFamily="18" charset="2"/>
              <a:buNone/>
            </a:pPr>
            <a:endParaRPr lang="zh-CN" altLang="en-US" sz="1000" b="1" i="0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2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从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DFA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NFA</a:t>
            </a:r>
            <a:endParaRPr lang="en-US" altLang="zh-CN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2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NFA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DFA</a:t>
            </a:r>
            <a:endParaRPr lang="en-US" altLang="zh-CN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2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DFA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 </a:t>
            </a: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400" b="1" i="0"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2400" b="1" i="0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2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 </a:t>
            </a: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400" b="1" i="0">
                <a:latin typeface="Arial" panose="020B0604020202020204" pitchFamily="34" charset="0"/>
                <a:ea typeface="楷体_GB2312" pitchFamily="49" charset="-122"/>
              </a:rPr>
              <a:t>-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NFA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DFA</a:t>
            </a:r>
            <a:endParaRPr lang="en-US" altLang="zh-CN" sz="2400" b="1" i="0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2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DFA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构造正规表达式</a:t>
            </a:r>
            <a:endParaRPr lang="zh-CN" altLang="en-US" sz="2400" b="1" i="0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  <a:p>
            <a:pPr lvl="2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从正规表达式构造 </a:t>
            </a: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400" b="1" i="0">
                <a:latin typeface="Arial" panose="020B0604020202020204" pitchFamily="34" charset="0"/>
                <a:ea typeface="楷体_GB2312" pitchFamily="49" charset="-122"/>
              </a:rPr>
              <a:t>- 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2400" b="1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5370" name="Rectangle 74"/>
          <p:cNvSpPr>
            <a:spLocks noChangeArrowheads="1"/>
          </p:cNvSpPr>
          <p:nvPr/>
        </p:nvSpPr>
        <p:spPr bwMode="auto">
          <a:xfrm>
            <a:off x="1403648" y="206375"/>
            <a:ext cx="6487938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ea typeface="华文行楷" panose="02010800040101010101" pitchFamily="2" charset="-122"/>
              </a:rPr>
              <a:t>几个转换算法的复杂度（选讲）</a:t>
            </a:r>
            <a:endParaRPr lang="zh-CN" altLang="en-US" sz="3600" b="1" i="0" dirty="0">
              <a:ea typeface="华文行楷" panose="0201080004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35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755650" y="1527175"/>
            <a:ext cx="7339013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kumimoji="0" lang="en-US" altLang="zh-CN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0"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DFA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NFA</a:t>
            </a:r>
            <a:endParaRPr lang="en-US" altLang="zh-CN" sz="3200" b="1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63542" name="Text Box 54"/>
          <p:cNvSpPr txBox="1">
            <a:spLocks noChangeArrowheads="1"/>
          </p:cNvSpPr>
          <p:nvPr/>
        </p:nvSpPr>
        <p:spPr bwMode="auto">
          <a:xfrm>
            <a:off x="1044575" y="2492375"/>
            <a:ext cx="7704138" cy="2222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Font typeface="Symbol" panose="05050102010706020507" pitchFamily="18" charset="2"/>
              <a:buChar char="-"/>
            </a:pP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sz="2400" b="1" i="0" dirty="0">
                <a:latin typeface="Arial" panose="020B0604020202020204" pitchFamily="34" charset="0"/>
                <a:ea typeface="楷体_GB2312" pitchFamily="49" charset="-122"/>
              </a:rPr>
              <a:t>回顾：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设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 D =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Q,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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F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),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 N =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Q,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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F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其中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定义为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>
              <a:buFontTx/>
              <a:buChar char="•"/>
            </a:pP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对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和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a 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 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/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q,a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= p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则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q,a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= {p}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设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|Q|=n,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该构造过程复杂度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为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O(n)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即线性时间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" name="Rectangle 74"/>
          <p:cNvSpPr>
            <a:spLocks noChangeArrowheads="1"/>
          </p:cNvSpPr>
          <p:nvPr/>
        </p:nvSpPr>
        <p:spPr bwMode="auto">
          <a:xfrm>
            <a:off x="1403648" y="206375"/>
            <a:ext cx="6487938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ea typeface="华文行楷" panose="02010800040101010101" pitchFamily="2" charset="-122"/>
              </a:rPr>
              <a:t>几个转换算法的复杂度（选讲）</a:t>
            </a:r>
            <a:endParaRPr lang="zh-CN" altLang="en-US" sz="3600" b="1" i="0" dirty="0">
              <a:ea typeface="华文行楷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36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5" name="Text Box 7"/>
          <p:cNvSpPr txBox="1">
            <a:spLocks noChangeArrowheads="1"/>
          </p:cNvSpPr>
          <p:nvPr/>
        </p:nvSpPr>
        <p:spPr bwMode="auto">
          <a:xfrm>
            <a:off x="968375" y="2492375"/>
            <a:ext cx="7924800" cy="2952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</a:rPr>
              <a:t>回顾：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设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  N =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Q,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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q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F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,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 =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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{q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}, F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,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其中</a:t>
            </a:r>
            <a:endParaRPr lang="zh-CN" altLang="en-US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zh-CN" altLang="en-US" sz="10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10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>
              <a:buFontTx/>
              <a:buChar char="•"/>
            </a:pP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=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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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</a:t>
            </a:r>
            <a:endParaRPr lang="en-US" altLang="zh-CN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>
              <a:buFontTx/>
              <a:buChar char="•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对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S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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和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a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 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 S , a ) =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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(q,a)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>
              <a:buFontTx/>
              <a:buChar char="•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=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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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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S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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F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 </a:t>
            </a:r>
            <a:r>
              <a:rPr lang="en-US" altLang="zh-CN" sz="24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</a:t>
            </a:r>
            <a:endParaRPr lang="en-US" altLang="zh-CN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设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| Q |=n,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该构造过程复杂度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为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O(n</a:t>
            </a:r>
            <a:r>
              <a:rPr lang="en-US" altLang="zh-CN" sz="2400" b="1" baseline="3000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sz="2400" b="1" baseline="30000"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但实际运行时</a:t>
            </a:r>
            <a:endParaRPr lang="zh-CN" altLang="en-US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间的上界可以是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O(n</a:t>
            </a:r>
            <a:r>
              <a:rPr lang="en-US" altLang="zh-CN" sz="2400" b="1" baseline="3000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s)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其中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s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为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实际状态数。</a:t>
            </a:r>
            <a:endParaRPr lang="zh-CN" altLang="en-US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19816" name="Text Box 8"/>
          <p:cNvSpPr txBox="1">
            <a:spLocks noChangeArrowheads="1"/>
          </p:cNvSpPr>
          <p:nvPr/>
        </p:nvSpPr>
        <p:spPr bwMode="auto">
          <a:xfrm>
            <a:off x="6781800" y="4327525"/>
            <a:ext cx="506413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1000" b="1">
                <a:solidFill>
                  <a:srgbClr val="333399"/>
                </a:solidFill>
                <a:latin typeface="Arial" panose="020B0604020202020204" pitchFamily="34" charset="0"/>
              </a:rPr>
              <a:t>q </a:t>
            </a:r>
            <a:r>
              <a:rPr lang="en-US" altLang="zh-CN" sz="1000" b="1" i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1000" b="1">
                <a:solidFill>
                  <a:srgbClr val="333399"/>
                </a:solidFill>
                <a:latin typeface="Arial" panose="020B0604020202020204" pitchFamily="34" charset="0"/>
              </a:rPr>
              <a:t> S</a:t>
            </a:r>
            <a:endParaRPr lang="en-US" altLang="zh-CN" sz="1000" b="1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119818" name="Rectangle 10"/>
          <p:cNvSpPr>
            <a:spLocks noChangeArrowheads="1"/>
          </p:cNvSpPr>
          <p:nvPr/>
        </p:nvSpPr>
        <p:spPr bwMode="auto">
          <a:xfrm>
            <a:off x="755650" y="1527175"/>
            <a:ext cx="7339013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kumimoji="0" lang="en-US" altLang="zh-CN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0"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NFA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DFA</a:t>
            </a:r>
            <a:endParaRPr lang="en-US" altLang="zh-CN" sz="3200" b="1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0" name="Rectangle 74"/>
          <p:cNvSpPr>
            <a:spLocks noChangeArrowheads="1"/>
          </p:cNvSpPr>
          <p:nvPr/>
        </p:nvSpPr>
        <p:spPr bwMode="auto">
          <a:xfrm>
            <a:off x="1403648" y="206375"/>
            <a:ext cx="6487938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ea typeface="华文行楷" panose="02010800040101010101" pitchFamily="2" charset="-122"/>
              </a:rPr>
              <a:t>几个转换算法的复杂度（选讲）</a:t>
            </a:r>
            <a:endParaRPr lang="zh-CN" altLang="en-US" sz="3600" b="1" i="0" dirty="0">
              <a:ea typeface="华文行楷" panose="020108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37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8" name="Rectangle 6"/>
          <p:cNvSpPr>
            <a:spLocks noChangeArrowheads="1"/>
          </p:cNvSpPr>
          <p:nvPr/>
        </p:nvSpPr>
        <p:spPr bwMode="auto">
          <a:xfrm>
            <a:off x="611188" y="1527175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DFA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 </a:t>
            </a:r>
            <a:r>
              <a:rPr lang="zh-CN" altLang="en-US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</a:rPr>
              <a:t>NFA </a:t>
            </a:r>
            <a:endParaRPr lang="en-US" altLang="zh-CN" sz="3200" b="1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0839" name="Text Box 7"/>
          <p:cNvSpPr txBox="1">
            <a:spLocks noChangeArrowheads="1"/>
          </p:cNvSpPr>
          <p:nvPr/>
        </p:nvSpPr>
        <p:spPr bwMode="auto">
          <a:xfrm>
            <a:off x="971550" y="2276475"/>
            <a:ext cx="7847013" cy="2587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</a:rPr>
              <a:t>回顾：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设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 D =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Q,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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q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F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,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构造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E =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Q,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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E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q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0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F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,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其中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E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定义为</a:t>
            </a:r>
            <a:endParaRPr lang="zh-CN" altLang="en-US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zh-CN" altLang="en-US" sz="10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10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>
              <a:buFontTx/>
              <a:buChar char="•"/>
            </a:pP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对任何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Q,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E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(q,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 =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>
              <a:buFontTx/>
              <a:buChar char="•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对任何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Q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和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a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 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/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(q,a) = p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则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en-US" altLang="zh-CN" sz="2400" b="1" baseline="-2500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N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(q,a) = {p}</a:t>
            </a:r>
            <a:endParaRPr lang="en-US" altLang="zh-CN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设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|Q|=n,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该构造过程复杂度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为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O(n)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" name="Rectangle 74"/>
          <p:cNvSpPr>
            <a:spLocks noChangeArrowheads="1"/>
          </p:cNvSpPr>
          <p:nvPr/>
        </p:nvSpPr>
        <p:spPr bwMode="auto">
          <a:xfrm>
            <a:off x="1403648" y="206375"/>
            <a:ext cx="6487938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ea typeface="华文行楷" panose="02010800040101010101" pitchFamily="2" charset="-122"/>
              </a:rPr>
              <a:t>几个转换算法的复杂度（选讲）</a:t>
            </a:r>
            <a:endParaRPr lang="zh-CN" altLang="en-US" sz="3600" b="1" i="0" dirty="0">
              <a:ea typeface="华文行楷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38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2" name="Rectangle 6"/>
          <p:cNvSpPr>
            <a:spLocks noChangeArrowheads="1"/>
          </p:cNvSpPr>
          <p:nvPr/>
        </p:nvSpPr>
        <p:spPr bwMode="auto">
          <a:xfrm>
            <a:off x="609600" y="1125538"/>
            <a:ext cx="4754563" cy="708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 </a:t>
            </a:r>
            <a:r>
              <a:rPr lang="zh-CN" altLang="en-US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DFA</a:t>
            </a:r>
            <a:endParaRPr lang="en-US" altLang="zh-CN" sz="3200" b="1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121870" name="Group 14"/>
          <p:cNvGrpSpPr/>
          <p:nvPr/>
        </p:nvGrpSpPr>
        <p:grpSpPr bwMode="auto">
          <a:xfrm>
            <a:off x="828675" y="2117725"/>
            <a:ext cx="8135938" cy="4048125"/>
            <a:chOff x="386" y="1379"/>
            <a:chExt cx="5125" cy="2550"/>
          </a:xfrm>
        </p:grpSpPr>
        <p:sp>
          <p:nvSpPr>
            <p:cNvPr id="121863" name="Text Box 7"/>
            <p:cNvSpPr txBox="1">
              <a:spLocks noChangeArrowheads="1"/>
            </p:cNvSpPr>
            <p:nvPr/>
          </p:nvSpPr>
          <p:spPr bwMode="auto">
            <a:xfrm>
              <a:off x="386" y="1379"/>
              <a:ext cx="5125" cy="25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just">
                <a:buClr>
                  <a:srgbClr val="800080"/>
                </a:buClr>
                <a:buFont typeface="Symbol" panose="05050102010706020507" pitchFamily="18" charset="2"/>
                <a:buChar char="-"/>
              </a:pP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zh-CN" altLang="en-US" sz="2400" b="1" i="0">
                  <a:latin typeface="Arial" panose="020B0604020202020204" pitchFamily="34" charset="0"/>
                  <a:ea typeface="楷体_GB2312" pitchFamily="49" charset="-122"/>
                </a:rPr>
                <a:t>回顾：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设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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cs typeface="Times New Roman" panose="02020603050405020304" pitchFamily="18" charset="0"/>
                </a:rPr>
                <a:t>-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NFA  E =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(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E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,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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,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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, 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0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, F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E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) ,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构造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 =</a:t>
              </a:r>
              <a:endPara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just">
                <a:buFont typeface="Wingdings" panose="05000000000000000000" pitchFamily="2" charset="2"/>
                <a:buNone/>
              </a:pP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   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(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,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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,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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D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, 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, F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) ,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其中</a:t>
              </a:r>
              <a:r>
                <a:rPr lang="zh-CN" altLang="en-US" sz="10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endParaRPr lang="zh-CN" altLang="en-US" sz="10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lvl="3" algn="just">
                <a:buFontTx/>
                <a:buChar char="•"/>
              </a:pP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=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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S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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S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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E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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S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=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ECLOSE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(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S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)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</a:t>
              </a:r>
              <a:endPara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lvl="3" algn="just">
                <a:buFontTx/>
                <a:buChar char="•"/>
              </a:pP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= </a:t>
              </a:r>
              <a:r>
                <a:rPr lang="en-US" altLang="zh-CN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ECLOSE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(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0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)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endPara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lvl="3" algn="just">
                <a:buFontTx/>
                <a:buChar char="•"/>
              </a:pP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F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=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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S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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S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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 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S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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F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E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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</a:t>
              </a:r>
              <a:r>
                <a:rPr lang="en-US" altLang="zh-CN" sz="2400" b="1" i="0"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</a:t>
              </a:r>
              <a:endPara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lvl="3" algn="just">
                <a:buFontTx/>
                <a:buChar char="•"/>
              </a:pP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对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S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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和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a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 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,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令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S =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{ p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1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, p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2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,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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, p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k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}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，</a:t>
              </a:r>
              <a:endParaRPr lang="zh-CN" altLang="en-US" sz="10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lvl="3" algn="just"/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并设 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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(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p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i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, a ) = { r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1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, r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2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,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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, r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m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}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，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则</a:t>
              </a:r>
              <a:endPara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endParaRPr>
            </a:p>
            <a:p>
              <a:pPr>
                <a:buFont typeface="Wingdings" panose="05000000000000000000" pitchFamily="2" charset="2"/>
                <a:buChar char=" "/>
              </a:pPr>
              <a:r>
                <a:rPr lang="zh-CN" altLang="en-US" sz="10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endParaRPr lang="zh-CN" altLang="en-US" sz="10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lvl="3" algn="just"/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  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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D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( S , a ) =</a:t>
              </a:r>
              <a:r>
                <a:rPr lang="en-US" altLang="zh-CN" sz="2400" b="1"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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ECLOSE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(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r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j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)</a:t>
              </a:r>
              <a:r>
                <a:rPr lang="en-US" altLang="zh-CN" sz="2400" b="1"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.</a:t>
              </a:r>
              <a:endPara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>
                <a:buFont typeface="Wingdings" panose="05000000000000000000" pitchFamily="2" charset="2"/>
                <a:buChar char=" "/>
              </a:pPr>
              <a:r>
                <a:rPr lang="en-US" altLang="zh-CN" sz="10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endParaRPr lang="en-US" altLang="zh-CN" sz="10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just">
                <a:buClr>
                  <a:srgbClr val="800080"/>
                </a:buClr>
                <a:buFont typeface="Symbol" panose="05050102010706020507" pitchFamily="18" charset="2"/>
                <a:buChar char="-"/>
              </a:pP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设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| Q</a:t>
              </a:r>
              <a:r>
                <a:rPr lang="en-US" altLang="zh-CN" sz="2400" b="1" baseline="-2500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E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|=n,</a:t>
              </a:r>
              <a:r>
                <a:rPr lang="en-US" altLang="zh-CN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该构造过程复杂度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为</a:t>
              </a:r>
              <a:r>
                <a:rPr lang="en-US" altLang="zh-CN" sz="2400" b="1">
                  <a:latin typeface="Arial" panose="020B0604020202020204" pitchFamily="34" charset="0"/>
                  <a:ea typeface="楷体_GB2312" pitchFamily="49" charset="-122"/>
                </a:rPr>
                <a:t>O(n</a:t>
              </a:r>
              <a:r>
                <a:rPr lang="en-US" altLang="zh-CN" sz="2400" b="1" baseline="30000">
                  <a:latin typeface="Arial" panose="020B0604020202020204" pitchFamily="34" charset="0"/>
                  <a:ea typeface="楷体_GB2312" pitchFamily="49" charset="-122"/>
                </a:rPr>
                <a:t>3</a:t>
              </a:r>
              <a:r>
                <a:rPr lang="en-US" altLang="zh-CN" sz="2400" b="1">
                  <a:latin typeface="Arial" panose="020B0604020202020204" pitchFamily="34" charset="0"/>
                  <a:ea typeface="楷体_GB2312" pitchFamily="49" charset="-122"/>
                </a:rPr>
                <a:t>2</a:t>
              </a:r>
              <a:r>
                <a:rPr lang="en-US" altLang="zh-CN" sz="2400" b="1" baseline="30000">
                  <a:latin typeface="Arial" panose="020B0604020202020204" pitchFamily="34" charset="0"/>
                  <a:ea typeface="楷体_GB2312" pitchFamily="49" charset="-122"/>
                </a:rPr>
                <a:t>n</a:t>
              </a:r>
              <a:r>
                <a:rPr lang="en-US" altLang="zh-CN" sz="2400" b="1">
                  <a:latin typeface="Arial" panose="020B0604020202020204" pitchFamily="34" charset="0"/>
                  <a:ea typeface="楷体_GB2312" pitchFamily="49" charset="-122"/>
                </a:rPr>
                <a:t>)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.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但实际运行时</a:t>
              </a:r>
              <a:endPara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just">
                <a:buFont typeface="Wingdings" panose="05000000000000000000" pitchFamily="2" charset="2"/>
                <a:buNone/>
              </a:pP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     间的上界可以是</a:t>
              </a:r>
              <a:r>
                <a:rPr lang="en-US" altLang="zh-CN" sz="2400" b="1">
                  <a:latin typeface="Arial" panose="020B0604020202020204" pitchFamily="34" charset="0"/>
                  <a:ea typeface="楷体_GB2312" pitchFamily="49" charset="-122"/>
                </a:rPr>
                <a:t>O(n</a:t>
              </a:r>
              <a:r>
                <a:rPr lang="en-US" altLang="zh-CN" sz="2400" b="1" baseline="30000">
                  <a:latin typeface="Arial" panose="020B0604020202020204" pitchFamily="34" charset="0"/>
                  <a:ea typeface="楷体_GB2312" pitchFamily="49" charset="-122"/>
                </a:rPr>
                <a:t>3</a:t>
              </a:r>
              <a:r>
                <a:rPr lang="en-US" altLang="zh-CN" sz="2400" b="1">
                  <a:latin typeface="Arial" panose="020B0604020202020204" pitchFamily="34" charset="0"/>
                  <a:ea typeface="楷体_GB2312" pitchFamily="49" charset="-122"/>
                </a:rPr>
                <a:t>s)</a:t>
              </a:r>
              <a:r>
                <a:rPr lang="zh-CN" altLang="en-US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，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其中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s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为 </a:t>
              </a:r>
              <a:r>
                <a:rPr lang="en-US" altLang="zh-CN" sz="2400" b="1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DFA </a:t>
              </a:r>
              <a:r>
                <a:rPr lang="zh-CN" altLang="en-US" sz="2400" b="1" i="0">
                  <a:solidFill>
                    <a:srgbClr val="333399"/>
                  </a:solidFill>
                  <a:latin typeface="Arial" panose="020B0604020202020204" pitchFamily="34" charset="0"/>
                  <a:ea typeface="楷体_GB2312" pitchFamily="49" charset="-122"/>
                </a:rPr>
                <a:t>实际状态数。</a:t>
              </a:r>
              <a:endPara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21865" name="Text Box 9"/>
            <p:cNvSpPr txBox="1">
              <a:spLocks noChangeArrowheads="1"/>
            </p:cNvSpPr>
            <p:nvPr/>
          </p:nvSpPr>
          <p:spPr bwMode="auto">
            <a:xfrm>
              <a:off x="1746" y="2896"/>
              <a:ext cx="370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rgbClr val="333399"/>
                  </a:solidFill>
                  <a:latin typeface="Arial" panose="020B0604020202020204" pitchFamily="34" charset="0"/>
                </a:rPr>
                <a:t>i = 1</a:t>
              </a:r>
              <a:endParaRPr lang="en-US" altLang="zh-CN" sz="1600" b="1">
                <a:solidFill>
                  <a:srgbClr val="3333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1866" name="Text Box 10"/>
            <p:cNvSpPr txBox="1">
              <a:spLocks noChangeArrowheads="1"/>
            </p:cNvSpPr>
            <p:nvPr/>
          </p:nvSpPr>
          <p:spPr bwMode="auto">
            <a:xfrm>
              <a:off x="1833" y="2704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600" b="1">
                  <a:solidFill>
                    <a:srgbClr val="333399"/>
                  </a:solidFill>
                  <a:latin typeface="Arial" panose="020B0604020202020204" pitchFamily="34" charset="0"/>
                </a:rPr>
                <a:t>k</a:t>
              </a:r>
              <a:endParaRPr lang="en-US" altLang="zh-CN" sz="1600" b="1">
                <a:solidFill>
                  <a:srgbClr val="3333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1867" name="Text Box 11"/>
            <p:cNvSpPr txBox="1">
              <a:spLocks noChangeArrowheads="1"/>
            </p:cNvSpPr>
            <p:nvPr/>
          </p:nvSpPr>
          <p:spPr bwMode="auto">
            <a:xfrm>
              <a:off x="2426" y="3242"/>
              <a:ext cx="370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solidFill>
                    <a:srgbClr val="333399"/>
                  </a:solidFill>
                  <a:latin typeface="Arial" panose="020B0604020202020204" pitchFamily="34" charset="0"/>
                </a:rPr>
                <a:t>j = 1</a:t>
              </a:r>
              <a:endParaRPr lang="en-US" altLang="zh-CN" sz="1600" b="1">
                <a:solidFill>
                  <a:srgbClr val="3333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1868" name="Text Box 12"/>
            <p:cNvSpPr txBox="1">
              <a:spLocks noChangeArrowheads="1"/>
            </p:cNvSpPr>
            <p:nvPr/>
          </p:nvSpPr>
          <p:spPr bwMode="auto">
            <a:xfrm>
              <a:off x="2508" y="3022"/>
              <a:ext cx="192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600" b="1">
                  <a:solidFill>
                    <a:srgbClr val="333399"/>
                  </a:solidFill>
                  <a:latin typeface="Arial" panose="020B0604020202020204" pitchFamily="34" charset="0"/>
                </a:rPr>
                <a:t>m</a:t>
              </a:r>
              <a:endParaRPr lang="en-US" altLang="zh-CN" sz="1600" b="1">
                <a:solidFill>
                  <a:srgbClr val="333399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4" name="Rectangle 74"/>
          <p:cNvSpPr>
            <a:spLocks noChangeArrowheads="1"/>
          </p:cNvSpPr>
          <p:nvPr/>
        </p:nvSpPr>
        <p:spPr bwMode="auto">
          <a:xfrm>
            <a:off x="1403648" y="206375"/>
            <a:ext cx="6487938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ea typeface="华文行楷" panose="02010800040101010101" pitchFamily="2" charset="-122"/>
              </a:rPr>
              <a:t>几个转换算法的复杂度（选讲）</a:t>
            </a:r>
            <a:endParaRPr lang="zh-CN" altLang="en-US" sz="3600" b="1" i="0" dirty="0">
              <a:ea typeface="华文行楷" panose="020108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39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611188" y="1341438"/>
            <a:ext cx="8229600" cy="639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DFA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正规表达式</a:t>
            </a:r>
            <a:endParaRPr lang="zh-CN" altLang="en-US" sz="3200" b="1" i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2887" name="Text Box 7"/>
          <p:cNvSpPr txBox="1">
            <a:spLocks noChangeArrowheads="1"/>
          </p:cNvSpPr>
          <p:nvPr/>
        </p:nvSpPr>
        <p:spPr bwMode="auto">
          <a:xfrm>
            <a:off x="685800" y="2492375"/>
            <a:ext cx="8229600" cy="30777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sz="2400" b="1" i="0" dirty="0">
                <a:latin typeface="Arial" panose="020B0604020202020204" pitchFamily="34" charset="0"/>
                <a:ea typeface="楷体_GB2312" pitchFamily="49" charset="-122"/>
              </a:rPr>
              <a:t>回顾：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路径迭代法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(1)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将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 D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的状态集用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{1, 2, … , n}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表达，且初态为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;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(2)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对所有</a:t>
            </a:r>
            <a:r>
              <a:rPr lang="en-US" altLang="zh-CN" sz="2400" b="1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j, k = 1, 2, … , n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，迭代计算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b="1" baseline="30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baseline="-25000" dirty="0" err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sz="2400" b="1" i="0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；</a:t>
            </a:r>
            <a:endParaRPr lang="zh-CN" altLang="en-US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zh-CN" altLang="en-US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(3)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将所有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j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为任一终态）相“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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”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endParaRPr lang="zh-CN" altLang="en-US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该构造过程复杂度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为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O(n</a:t>
            </a:r>
            <a:r>
              <a:rPr lang="en-US" altLang="zh-CN" sz="2400" b="1" baseline="30000" dirty="0"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4</a:t>
            </a:r>
            <a:r>
              <a:rPr lang="en-US" altLang="zh-CN" sz="2400" b="1" baseline="30000" dirty="0"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（考虑表达式的大小）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endParaRPr lang="zh-CN" altLang="en-US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采用状态消去法具有同样的</a:t>
            </a:r>
            <a:r>
              <a:rPr lang="zh-CN" altLang="en-US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复杂度</a:t>
            </a:r>
            <a:endParaRPr lang="zh-CN" altLang="en-US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9" name="Rectangle 74"/>
          <p:cNvSpPr>
            <a:spLocks noChangeArrowheads="1"/>
          </p:cNvSpPr>
          <p:nvPr/>
        </p:nvSpPr>
        <p:spPr bwMode="auto">
          <a:xfrm>
            <a:off x="1403648" y="206375"/>
            <a:ext cx="6487938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ea typeface="华文行楷" panose="02010800040101010101" pitchFamily="2" charset="-122"/>
              </a:rPr>
              <a:t>几个转换算法的复杂度（选讲）</a:t>
            </a:r>
            <a:endParaRPr lang="zh-CN" altLang="en-US" sz="3600" b="1" i="0" dirty="0">
              <a:ea typeface="华文行楷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0" dirty="0">
                <a:solidFill>
                  <a:srgbClr val="000000"/>
                </a:solidFill>
              </a:rPr>
              <a:t>40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10" name="Rectangle 6"/>
          <p:cNvSpPr>
            <a:spLocks noChangeArrowheads="1"/>
          </p:cNvSpPr>
          <p:nvPr/>
        </p:nvSpPr>
        <p:spPr bwMode="auto">
          <a:xfrm>
            <a:off x="762000" y="1447800"/>
            <a:ext cx="82296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²"/>
            </a:pP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从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</a:rPr>
              <a:t>正规表达式</a:t>
            </a:r>
            <a:r>
              <a:rPr lang="zh-CN" altLang="en-US" sz="3200" b="1" i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构造</a:t>
            </a:r>
            <a:r>
              <a:rPr lang="zh-CN" altLang="en-US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3200" b="1" i="0"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en-US" altLang="zh-CN" sz="32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endParaRPr lang="en-US" altLang="zh-CN" sz="3200" b="1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1095375" y="2143125"/>
            <a:ext cx="7364413" cy="2952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>
                <a:latin typeface="Arial" panose="020B0604020202020204" pitchFamily="34" charset="0"/>
                <a:ea typeface="楷体_GB2312" pitchFamily="49" charset="-122"/>
              </a:rPr>
              <a:t>回顾：</a:t>
            </a:r>
            <a:endParaRPr lang="zh-CN" altLang="en-US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buFont typeface="Wingdings" panose="05000000000000000000" pitchFamily="2" charset="2"/>
              <a:buChar char=" "/>
            </a:pPr>
            <a:r>
              <a:rPr lang="zh-CN" altLang="en-US" sz="10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10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0" hangingPunct="0"/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归纳于正规表达式的结构，或通过构造一棵表达式</a:t>
            </a:r>
            <a:endParaRPr lang="zh-CN" altLang="en-US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0" hangingPunct="0"/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树，然后根据归纳构造规则得到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NFA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；每一结</a:t>
            </a:r>
            <a:endParaRPr lang="zh-CN" altLang="en-US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0" hangingPunct="0"/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点上的工作只是增加不超过两个新的状态，以及不 </a:t>
            </a:r>
            <a:endParaRPr lang="zh-CN" altLang="en-US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0" hangingPunct="0"/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 超过四条新的弧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/>
            <a:endParaRPr lang="en-US" altLang="zh-CN" sz="10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该构造过程复杂度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为</a:t>
            </a: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O(n)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,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这里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n </a:t>
            </a: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为正规表达式的</a:t>
            </a:r>
            <a:endParaRPr lang="zh-CN" altLang="en-US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Clr>
                <a:srgbClr val="800080"/>
              </a:buClr>
              <a:buFont typeface="Symbol" panose="05050102010706020507" pitchFamily="18" charset="2"/>
              <a:buNone/>
            </a:pPr>
            <a:r>
              <a:rPr lang="zh-CN" altLang="en-US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  大小</a:t>
            </a:r>
            <a:r>
              <a:rPr lang="en-US" altLang="zh-CN" sz="2400" b="1" i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endParaRPr lang="en-US" altLang="zh-CN" sz="2400" b="1" i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" name="Rectangle 74"/>
          <p:cNvSpPr>
            <a:spLocks noChangeArrowheads="1"/>
          </p:cNvSpPr>
          <p:nvPr/>
        </p:nvSpPr>
        <p:spPr bwMode="auto">
          <a:xfrm>
            <a:off x="1403648" y="206375"/>
            <a:ext cx="6487938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ea typeface="华文行楷" panose="02010800040101010101" pitchFamily="2" charset="-122"/>
              </a:rPr>
              <a:t>几个转换算法的复杂度（选讲）</a:t>
            </a:r>
            <a:endParaRPr lang="zh-CN" altLang="en-US" sz="3600" b="1" i="0" dirty="0">
              <a:ea typeface="华文行楷" panose="020108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41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35" name="Text Box 111"/>
          <p:cNvSpPr txBox="1">
            <a:spLocks noChangeArrowheads="1"/>
          </p:cNvSpPr>
          <p:nvPr/>
        </p:nvSpPr>
        <p:spPr bwMode="auto">
          <a:xfrm>
            <a:off x="1476375" y="1989138"/>
            <a:ext cx="6480175" cy="20928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>
                <a:srgbClr val="800080"/>
              </a:buClr>
              <a:buFont typeface="Wingdings" panose="05000000000000000000" pitchFamily="2" charset="2"/>
              <a:buNone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just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latin typeface="Arial" panose="020B0604020202020204" pitchFamily="34" charset="0"/>
                <a:ea typeface="楷体_GB2312" pitchFamily="49" charset="-122"/>
              </a:rPr>
              <a:t>必做题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</a:rPr>
              <a:t>: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>
              <a:buClr>
                <a:srgbClr val="800080"/>
              </a:buClr>
              <a:buFontTx/>
              <a:buChar char="•"/>
            </a:pP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Ex.3.2.1 (c),(d)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>
              <a:buClr>
                <a:srgbClr val="800080"/>
              </a:buClr>
              <a:buFontTx/>
              <a:buChar char="•"/>
            </a:pP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Ex. 3.2.3</a:t>
            </a:r>
            <a:endParaRPr lang="en-US" altLang="zh-CN" sz="24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>
              <a:buClr>
                <a:srgbClr val="800080"/>
              </a:buClr>
              <a:buFontTx/>
              <a:buChar char="•"/>
            </a:pP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Ex.3.2.4 (b),(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c)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lvl="3" algn="just">
              <a:buClr>
                <a:srgbClr val="800080"/>
              </a:buClr>
              <a:buFontTx/>
              <a:buChar char="•"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！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Ex.3.2.6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6736" name="Rectangle 112"/>
          <p:cNvSpPr>
            <a:spLocks noChangeArrowheads="1"/>
          </p:cNvSpPr>
          <p:nvPr/>
        </p:nvSpPr>
        <p:spPr bwMode="auto">
          <a:xfrm>
            <a:off x="1476375" y="195263"/>
            <a:ext cx="22320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b="1" i="0">
                <a:ea typeface="华文行楷" panose="02010800040101010101" pitchFamily="2" charset="-122"/>
              </a:rPr>
              <a:t>课后练习</a:t>
            </a:r>
            <a:endParaRPr lang="zh-CN" altLang="en-US" sz="4000" b="1" i="0">
              <a:ea typeface="华文行楷" panose="020108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42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6" name="Text Box 6"/>
          <p:cNvSpPr txBox="1">
            <a:spLocks noChangeArrowheads="1"/>
          </p:cNvSpPr>
          <p:nvPr/>
        </p:nvSpPr>
        <p:spPr bwMode="auto">
          <a:xfrm>
            <a:off x="831850" y="1124744"/>
            <a:ext cx="7772400" cy="1384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>
              <a:buClr>
                <a:srgbClr val="800080"/>
              </a:buClr>
              <a:buFont typeface="Wingdings" panose="05000000000000000000" pitchFamily="2" charset="2"/>
              <a:buNone/>
            </a:pPr>
            <a:r>
              <a:rPr lang="en-US" altLang="zh-CN" sz="10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en-US" altLang="zh-CN" sz="1000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457200" indent="-457200" algn="just">
              <a:buClr>
                <a:srgbClr val="800080"/>
              </a:buClr>
              <a:buFont typeface="Wingdings" panose="05000000000000000000" pitchFamily="2" charset="2"/>
              <a:buChar char="²"/>
            </a:pPr>
            <a:r>
              <a:rPr lang="en-US" altLang="zh-CN" sz="2400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400" b="1" i="0" dirty="0">
                <a:latin typeface="Arial" panose="020B0604020202020204" pitchFamily="34" charset="0"/>
                <a:ea typeface="楷体_GB2312" pitchFamily="49" charset="-122"/>
              </a:rPr>
              <a:t>自测题</a:t>
            </a:r>
            <a:r>
              <a:rPr lang="en-US" altLang="zh-CN" sz="2400" b="1" i="0" dirty="0">
                <a:latin typeface="Arial" panose="020B0604020202020204" pitchFamily="34" charset="0"/>
                <a:ea typeface="楷体_GB2312" pitchFamily="49" charset="-122"/>
              </a:rPr>
              <a:t>:</a:t>
            </a:r>
            <a:endParaRPr lang="en-US" altLang="zh-CN" sz="2400" b="1" i="0" dirty="0">
              <a:latin typeface="Arial" panose="020B0604020202020204" pitchFamily="34" charset="0"/>
              <a:ea typeface="楷体_GB2312" pitchFamily="49" charset="-122"/>
            </a:endParaRPr>
          </a:p>
          <a:p>
            <a:pPr marL="457200" indent="-457200" algn="just">
              <a:buClr>
                <a:srgbClr val="800080"/>
              </a:buClr>
              <a:buFont typeface="Wingdings" panose="05000000000000000000" pitchFamily="2" charset="2"/>
              <a:buNone/>
            </a:pPr>
            <a:endParaRPr lang="en-US" altLang="zh-CN" sz="1000" b="1" i="0" dirty="0">
              <a:latin typeface="Arial" panose="020B0604020202020204" pitchFamily="34" charset="0"/>
              <a:ea typeface="楷体_GB2312" pitchFamily="49" charset="-122"/>
            </a:endParaRPr>
          </a:p>
          <a:p>
            <a:pPr marL="914400" lvl="1" indent="-457200"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下图表示一个 </a:t>
            </a:r>
            <a:r>
              <a:rPr lang="zh-CN" alt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 . </a:t>
            </a:r>
            <a:r>
              <a:rPr lang="zh-CN" altLang="en-US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使用状态消去技术，求出与此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DFA</a:t>
            </a:r>
            <a:r>
              <a:rPr lang="zh-CN" altLang="en-US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等价的一个正规表达式</a:t>
            </a:r>
            <a:r>
              <a:rPr lang="en-US" alt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. (</a:t>
            </a:r>
            <a:r>
              <a:rPr lang="zh-CN" altLang="en-US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分主要步骤或直接写出结果均可</a:t>
            </a:r>
            <a:r>
              <a:rPr lang="en-US" alt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） </a:t>
            </a:r>
            <a:endParaRPr lang="zh-CN" altLang="zh-CN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3847" name="Rectangle 7"/>
          <p:cNvSpPr>
            <a:spLocks noChangeArrowheads="1"/>
          </p:cNvSpPr>
          <p:nvPr/>
        </p:nvSpPr>
        <p:spPr bwMode="auto">
          <a:xfrm>
            <a:off x="1476375" y="195263"/>
            <a:ext cx="22320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4000" b="1" i="0">
                <a:ea typeface="华文行楷" panose="02010800040101010101" pitchFamily="2" charset="-122"/>
              </a:rPr>
              <a:t>课后练习</a:t>
            </a:r>
            <a:endParaRPr lang="zh-CN" altLang="en-US" sz="4000" b="1" i="0">
              <a:ea typeface="华文行楷" panose="02010800040101010101" pitchFamily="2" charset="-122"/>
            </a:endParaRPr>
          </a:p>
        </p:txBody>
      </p:sp>
      <p:graphicFrame>
        <p:nvGraphicFramePr>
          <p:cNvPr id="163848" name="Object 8"/>
          <p:cNvGraphicFramePr>
            <a:graphicFrameLocks noChangeAspect="1"/>
          </p:cNvGraphicFramePr>
          <p:nvPr/>
        </p:nvGraphicFramePr>
        <p:xfrm>
          <a:off x="2771775" y="2637383"/>
          <a:ext cx="3744913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28" name="Visio" r:id="rId1" imgW="3124200" imgH="1076325" progId="Visio.Drawing.11">
                  <p:embed/>
                </p:oleObj>
              </mc:Choice>
              <mc:Fallback>
                <p:oleObj name="Visio" r:id="rId1" imgW="3124200" imgH="1076325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637383"/>
                        <a:ext cx="3744913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31850" y="3921670"/>
            <a:ext cx="76784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buClr>
                <a:srgbClr val="800080"/>
              </a:buClr>
              <a:buFont typeface="Symbol" panose="05050102010706020507" pitchFamily="18" charset="2"/>
              <a:buChar char="-"/>
            </a:pPr>
            <a:r>
              <a:rPr lang="zh-CN" alt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若严格依课程所介绍的算法（Thompson 构造法）将某个正规表达式转换为等价的 </a:t>
            </a:r>
            <a:r>
              <a:rPr lang="zh-CN" alt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pt-BR" alt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–NFA</a:t>
            </a:r>
            <a:r>
              <a:rPr lang="zh-CN" alt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，下图所示为该</a:t>
            </a:r>
            <a:r>
              <a:rPr lang="zh-CN" alt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pt-BR" alt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–NFA</a:t>
            </a:r>
            <a:r>
              <a:rPr lang="zh-CN" altLang="zh-CN" b="1" i="0" dirty="0">
                <a:solidFill>
                  <a:srgbClr val="333399"/>
                </a:solidFill>
                <a:latin typeface="Arial" panose="020B0604020202020204" pitchFamily="34" charset="0"/>
                <a:ea typeface="楷体_GB2312" pitchFamily="49" charset="-122"/>
              </a:rPr>
              <a:t>的转移图表示。试给出这个正规表达式。</a:t>
            </a:r>
            <a:endParaRPr lang="zh-CN" altLang="zh-CN" b="1" i="0" dirty="0">
              <a:solidFill>
                <a:srgbClr val="333399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4942179"/>
            <a:ext cx="5760640" cy="18075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43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352800" y="4479925"/>
            <a:ext cx="28194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chemeClr val="hlink"/>
                </a:solidFill>
                <a:latin typeface="Arial" panose="020B0604020202020204" pitchFamily="34" charset="0"/>
              </a:rPr>
              <a:t>Thank You</a:t>
            </a:r>
            <a:endParaRPr lang="en-US" altLang="zh-CN" sz="3200" b="1" dirty="0">
              <a:solidFill>
                <a:schemeClr val="hlink"/>
              </a:solidFill>
              <a:latin typeface="CMR10" charset="0"/>
            </a:endParaRPr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1981200" y="2209800"/>
            <a:ext cx="38862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lnSpc>
                <a:spcPct val="90000"/>
              </a:lnSpc>
            </a:pPr>
            <a:r>
              <a:rPr lang="en-US" altLang="zh-CN" sz="3200" b="1">
                <a:solidFill>
                  <a:schemeClr val="hlink"/>
                </a:solidFill>
                <a:latin typeface="Arial" panose="020B0604020202020204" pitchFamily="34" charset="0"/>
              </a:rPr>
              <a:t>That’s all for today.</a:t>
            </a:r>
            <a:r>
              <a:rPr lang="en-US" altLang="zh-CN" sz="3200" b="1">
                <a:solidFill>
                  <a:schemeClr val="hlink"/>
                </a:solidFill>
                <a:latin typeface="CMR10" charset="0"/>
              </a:rPr>
              <a:t> </a:t>
            </a:r>
            <a:endParaRPr lang="en-US" altLang="zh-CN" sz="3200" b="1">
              <a:solidFill>
                <a:schemeClr val="hlink"/>
              </a:solidFill>
              <a:latin typeface="CMR1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32813" y="64578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i="0" dirty="0">
                <a:solidFill>
                  <a:srgbClr val="000000"/>
                </a:solidFill>
              </a:rPr>
              <a:t>44</a:t>
            </a:r>
            <a:endParaRPr kumimoji="1" lang="zh-CN" altLang="en-US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tags/tag1.xml><?xml version="1.0" encoding="utf-8"?>
<p:tagLst xmlns:p="http://schemas.openxmlformats.org/presentationml/2006/main">
  <p:tag name="commondata" val="eyJoZGlkIjoiNzgxMjk4YWQzYTNmZjE0ZDVkM2MxNDIwNjFhMjE1NTQifQ=="/>
</p:tagLst>
</file>

<file path=ppt/theme/theme1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000" b="0" i="1" u="none" strike="noStrike" cap="none" normalizeH="0" baseline="0" smtClean="0">
            <a:ln>
              <a:noFill/>
            </a:ln>
            <a:solidFill>
              <a:srgbClr val="80008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000" b="0" i="1" u="none" strike="noStrike" cap="none" normalizeH="0" baseline="0" smtClean="0">
            <a:ln>
              <a:noFill/>
            </a:ln>
            <a:solidFill>
              <a:srgbClr val="80008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0</TotalTime>
  <Words>6018</Words>
  <Application>WPS 演示</Application>
  <PresentationFormat>全屏显示(4:3)</PresentationFormat>
  <Paragraphs>873</Paragraphs>
  <Slides>44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91</vt:i4>
      </vt:variant>
      <vt:variant>
        <vt:lpstr>幻灯片标题</vt:lpstr>
      </vt:variant>
      <vt:variant>
        <vt:i4>44</vt:i4>
      </vt:variant>
    </vt:vector>
  </HeadingPairs>
  <TitlesOfParts>
    <vt:vector size="149" baseType="lpstr">
      <vt:lpstr>Arial</vt:lpstr>
      <vt:lpstr>宋体</vt:lpstr>
      <vt:lpstr>Wingdings</vt:lpstr>
      <vt:lpstr>Times New Roman</vt:lpstr>
      <vt:lpstr>楷体_GB2312</vt:lpstr>
      <vt:lpstr>新宋体</vt:lpstr>
      <vt:lpstr>华文行楷</vt:lpstr>
      <vt:lpstr>Symbol</vt:lpstr>
      <vt:lpstr>微软雅黑</vt:lpstr>
      <vt:lpstr>Arial Unicode MS</vt:lpstr>
      <vt:lpstr>等线</vt:lpstr>
      <vt:lpstr>CMR10</vt:lpstr>
      <vt:lpstr>Segoe Print</vt:lpstr>
      <vt:lpstr>Capsules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wyy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</dc:creator>
  <cp:lastModifiedBy>郑东喆(2023010857)</cp:lastModifiedBy>
  <cp:revision>426</cp:revision>
  <dcterms:created xsi:type="dcterms:W3CDTF">2002-02-03T03:17:00Z</dcterms:created>
  <dcterms:modified xsi:type="dcterms:W3CDTF">2024-10-29T06:40:07Z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811BB61BAF654C228706166BEEE6FBDA_12</vt:lpwstr>
  </property>
  <property fmtid="{D5CDD505-2E9C-101B-9397-08002B2CF9AE}" pid="3" name="KSOProductBuildVer">
    <vt:lpwstr>2052-12.1.0.15374</vt:lpwstr>
  </property>
</Properties>
</file>